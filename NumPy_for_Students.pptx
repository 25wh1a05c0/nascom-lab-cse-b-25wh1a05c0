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371600"/>
            <a:ext cx="4572000" cy="4572000"/>
          </a:xfrm>
          <a:prstGeom prst="ellipse">
            <a:avLst/>
          </a:prstGeom>
          <a:solidFill>
            <a:srgbClr val="2D6CD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8FC1FF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NUMPY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for Students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guide to arrays, functions, and numerical computing in Python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4297680"/>
            <a:ext cx="1097280" cy="0"/>
          </a:xfrm>
          <a:prstGeom prst="line">
            <a:avLst/>
          </a:prstGeom>
          <a:noFill/>
          <a:ln w="38100">
            <a:solidFill>
              <a:srgbClr val="3DDC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 •  Indexing  •  Math  •  Linear Algebra  •  Random  •  Broadcasting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NumPy?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(Numerical Python) is the core library for scientific computing in Python. It provides a fast, memory-efficient multidimensional array object (ndarray) and a huge collection of functions for operating on arrays.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2D6CD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6974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03580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operations run in optimized C, far faster than Python loops.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639312"/>
            <a:ext cx="457200" cy="457200"/>
          </a:xfrm>
          <a:prstGeom prst="ellipse">
            <a:avLst/>
          </a:prstGeom>
          <a:solidFill>
            <a:srgbClr val="2D6CD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359359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39319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pandas, scikit-learn, TensorFlow, PyTorch, and more.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535424"/>
            <a:ext cx="457200" cy="457200"/>
          </a:xfrm>
          <a:prstGeom prst="ellipse">
            <a:avLst/>
          </a:prstGeom>
          <a:solidFill>
            <a:srgbClr val="2D6CD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4489704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Efficient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482803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store data compactly in fixed-type, contiguous memory.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431536"/>
            <a:ext cx="457200" cy="457200"/>
          </a:xfrm>
          <a:prstGeom prst="ellipse">
            <a:avLst/>
          </a:prstGeom>
          <a:solidFill>
            <a:srgbClr val="2D6CD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5385816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 Functionality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572414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Math, statistics, linear algebra, random sampling &amp; more.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1097280"/>
            <a:ext cx="4389120" cy="4480560"/>
          </a:xfrm>
          <a:prstGeom prst="roundRect">
            <a:avLst>
              <a:gd name="adj" fmla="val 1667"/>
            </a:avLst>
          </a:prstGeom>
          <a:solidFill>
            <a:srgbClr val="0E1830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1234440"/>
            <a:ext cx="3931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&amp; import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numpy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= np.array([1, 2, 3])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print(arr)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 2 3]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Arrays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6309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np.array(list)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an array from a Python list or tuple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np.zeros(shape)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filled with zeros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np.ones(shape)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filled with ones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np.full(shape, val)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filled with a constant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np.empty(shape)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Uninitialized array (fast, garbage values)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np.arange(start,stop,step)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Evenly spaced values (like range())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np.linspace(start,stop,n)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evenly spaced values between start &amp; stop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np.eye(n)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x n identity matrix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np.random.rand(shape)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values in [0, 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040880" y="1051560"/>
            <a:ext cx="4663440" cy="4572000"/>
          </a:xfrm>
          <a:prstGeom prst="roundRect">
            <a:avLst>
              <a:gd name="adj" fmla="val 1600"/>
            </a:avLst>
          </a:prstGeom>
          <a:solidFill>
            <a:srgbClr val="0E1830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269480" y="1188720"/>
            <a:ext cx="42062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np.array([1,2,3])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np.zeros((2,3))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np.ones((3,3))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np.full((2,2), 7)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np.arange(0,10,2)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 2 4 6 8]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np.linspace(0,1,5)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np.eye(3)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Attributes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6309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arr.shape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 of array dimensions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arr.ndim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dimensions (axes)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arr.size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number of elements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arr.dtype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 of elements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arr.itemsize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in bytes of each 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arr.nbytes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bytes consumed by the array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arr.T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Transposed view of the array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040880" y="1051560"/>
            <a:ext cx="4663440" cy="3931920"/>
          </a:xfrm>
          <a:prstGeom prst="roundRect">
            <a:avLst>
              <a:gd name="adj" fmla="val 1860"/>
            </a:avLst>
          </a:prstGeom>
          <a:solidFill>
            <a:srgbClr val="0E1830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269480" y="118872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= np.array([[1,2,3],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[4,5,6]])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arr.shape   # (2, 3)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arr.ndim    # 2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arr.size    # 6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arr.dtype   # dtype('int64')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arr.T       # transpose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 &amp; Slicing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6309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arr[i]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element at index 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arr[i, j]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element at row i, column 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arr[start:stop:step]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 a range of elements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arr[:, j]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rows, column 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arr[i, :]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i, all 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arr[arr &gt; 5]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 mask indexing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arr[[0,2,4]]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Fancy indexing with a list of indices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040880" y="1051560"/>
            <a:ext cx="4663440" cy="4572000"/>
          </a:xfrm>
          <a:prstGeom prst="roundRect">
            <a:avLst>
              <a:gd name="adj" fmla="val 1600"/>
            </a:avLst>
          </a:prstGeom>
          <a:solidFill>
            <a:srgbClr val="0E1830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269480" y="1188720"/>
            <a:ext cx="42062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np.array([10,20,30,40,50])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a[1]        # 20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a[1:4]      # [20 30 40]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a[::2]      # [10 30 50]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np.array([[1,2],[3,4]])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m[0, 1]     # 2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m[:, 0]     # [1 3]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a[a &gt; 25]   # [30 40 50]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Reshaping &amp; Combining Arrays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6675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arr.reshape(shape)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shape without changing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arr.flatten()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Collapse to 1-D (returns a copy)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arr.ravel()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Collapse to 1-D (returns a view)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np.transpose(arr)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axes / transpose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np.concatenate([a,b])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arrays along an axis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np.vstack([a,b])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arrays vertically (row-wise)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np.hstack([a,b])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arrays horizontally (column-wise)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np.split(arr, n)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array into n equal parts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406640" y="1051560"/>
            <a:ext cx="4297680" cy="4663440"/>
          </a:xfrm>
          <a:prstGeom prst="roundRect">
            <a:avLst>
              <a:gd name="adj" fmla="val 1702"/>
            </a:avLst>
          </a:prstGeom>
          <a:solidFill>
            <a:srgbClr val="0E1830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635240" y="1188720"/>
            <a:ext cx="3840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np.arange(6)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a.reshape(2,3)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[[0 1 2]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[3 4 5]]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np.array([1,2,3])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np.array([4,5,6])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np.vstack([b,c])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np.hstack([b,c])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&amp; Math Functions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66751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np.add / +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Element-wise addition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np.subtract / -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Element-wise subtraction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np.multiply / *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Element-wise multiplication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np.divide / /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Element-wise division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np.power(a, n)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Element-wise exponentiation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np.sqrt(arr)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 root of each element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np.exp(arr)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Exponential (e^x) of each element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np.log(arr) / log10 / log2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/ base-10 / base-2 logarithm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np.abs(arr)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np.round / floor / ceil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Rounding functions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406640" y="1051560"/>
            <a:ext cx="4297680" cy="3749040"/>
          </a:xfrm>
          <a:prstGeom prst="roundRect">
            <a:avLst>
              <a:gd name="adj" fmla="val 1951"/>
            </a:avLst>
          </a:prstGeom>
          <a:solidFill>
            <a:srgbClr val="0E1830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635240" y="118872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np.array([1,4,9])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np.array([1,2,3])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     # [2 6 12]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* b     # [1 8 27]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np.sqrt(a) # [1. 2. 3.]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np.power(b,2) # [1 4 9]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&amp; Statistical Functions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66751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np.sum(arr)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all elements (or along an axis)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np.mean(arr)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 mean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np.median(arr)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np.std(arr)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deviation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np.var(arr)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np.min / np.max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/ maximum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np.argmin / np.argmax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of min / max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np.cumsum(arr)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sum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np.percentile(arr, q)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q-th percentile of the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406640" y="1051560"/>
            <a:ext cx="4297680" cy="4663440"/>
          </a:xfrm>
          <a:prstGeom prst="roundRect">
            <a:avLst>
              <a:gd name="adj" fmla="val 1702"/>
            </a:avLst>
          </a:prstGeom>
          <a:solidFill>
            <a:srgbClr val="0E1830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635240" y="1188720"/>
            <a:ext cx="3840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np.array([[1,2,3],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[4,5,6]])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a.sum()        # 21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a.sum(axis=0)  # [5 7 9]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a.sum(axis=1)  # [6 15]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a.mean()       # 3.5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a.max()        # 6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a.argmax()     # 5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lets NumPy perform operations on arrays of different shapes by automatically expanding the smaller array — without copying data.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rgbClr val="2D6CD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shapes from the rightmost dimension.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852928"/>
            <a:ext cx="365760" cy="365760"/>
          </a:xfrm>
          <a:prstGeom prst="ellipse">
            <a:avLst/>
          </a:prstGeom>
          <a:solidFill>
            <a:srgbClr val="2D6CD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005840" y="28529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are compatible if equal, or one of them is 1.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419856"/>
            <a:ext cx="365760" cy="365760"/>
          </a:xfrm>
          <a:prstGeom prst="ellipse">
            <a:avLst/>
          </a:prstGeom>
          <a:solidFill>
            <a:srgbClr val="2D6CD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005840" y="341985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dimensions are treated as size 1.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0E1830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234440"/>
            <a:ext cx="5120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np.array([[1,2,3],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[4,5,6]])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np.array([10,20,30])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[[11 22 33]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[14 25 36]]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 is 'stretched' across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each row of 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Indexing &amp; Conditions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64008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 &gt; 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 array from a 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np.where(cond, a, b)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a or b element-wise by 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np.any(arr)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any element is 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np.all(arr)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all elements are 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np.isnan(arr)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 mask of NaN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np.clip(arr, lo, hi)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 values to a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np.count_nonzero(arr)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of nonzero / True elements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132320" y="1051560"/>
            <a:ext cx="4572000" cy="4663440"/>
          </a:xfrm>
          <a:prstGeom prst="roundRect">
            <a:avLst>
              <a:gd name="adj" fmla="val 1600"/>
            </a:avLst>
          </a:prstGeom>
          <a:solidFill>
            <a:srgbClr val="0E1830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60920" y="1188720"/>
            <a:ext cx="4114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np.array([1,-2,3,-4,5])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&gt; 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[T F T F T]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np.where(a&gt;0, a, 0)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 0 3 0 5]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np.any(a&lt;0)   # True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np.all(a&gt;0)   # False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&amp; Searching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6492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np.sort(arr)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a sorted copy of the array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arr.sort()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the array in place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np.argsort(arr)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Indices that would sort the array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np.unique(arr)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unique elements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np.searchsorted(a, v)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to insert v to keep a sorted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np.nonzero(arr)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Indices of nonzero elements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np.in1d(a, b)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membership of a's elements in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223760" y="1051560"/>
            <a:ext cx="4480560" cy="4663440"/>
          </a:xfrm>
          <a:prstGeom prst="roundRect">
            <a:avLst>
              <a:gd name="adj" fmla="val 1633"/>
            </a:avLst>
          </a:prstGeom>
          <a:solidFill>
            <a:srgbClr val="0E1830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52360" y="1188720"/>
            <a:ext cx="4023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np.array([3,1,4,1,5])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np.sort(a)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 1 3 4 5]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np.argsort(a)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 3 0 2 4]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np.unique(a)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 3 4 5]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Algebra (np.linalg)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66751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np.dot(a, b)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Dot product of two arrays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@ b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 multiplication operator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np.matmul(a, b)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 product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np.linalg.inv(a)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Inverse of a matrix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np.linalg.det(a)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Determinant of a matrix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np.linalg.eig(a)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Eigenvalues &amp; eigenvectors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np.linalg.solve(a, b)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 linear system ax =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np.linalg.norm(a)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or matrix norm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406640" y="1051560"/>
            <a:ext cx="4297680" cy="4663440"/>
          </a:xfrm>
          <a:prstGeom prst="roundRect">
            <a:avLst>
              <a:gd name="adj" fmla="val 1702"/>
            </a:avLst>
          </a:prstGeom>
          <a:solidFill>
            <a:srgbClr val="0E1830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635240" y="1188720"/>
            <a:ext cx="3840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np.array([[1,2],[3,4]])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np.array([[5,6],[7,8]])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@ B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[[19 22]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[43 50]]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np.linalg.det(A)  # -2.0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np.linalg.inv(A)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Random Module (np.random)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6583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np.random.rand(d0,d1)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random values in [0, 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np.random.randn(d0,d1)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 from standard normal dist.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np.random.randint(lo,hi)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integers in [lo, hi)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np.random.choice(arr)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sample from an array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np.random.shuffle(arr)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Shuffle array in place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np.random.seed(n)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the random seed for reproducibility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6CD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np.random.normal(mu,sd)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 from a normal distribution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0" y="1051560"/>
            <a:ext cx="4389120" cy="4572000"/>
          </a:xfrm>
          <a:prstGeom prst="roundRect">
            <a:avLst>
              <a:gd name="adj" fmla="val 1667"/>
            </a:avLst>
          </a:prstGeom>
          <a:solidFill>
            <a:srgbClr val="0E1830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43800" y="1188720"/>
            <a:ext cx="39319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np.random.seed(42)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np.random.rand(2,2)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np.random.randint(1,10,5)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[7 4 8 5 7]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np.array([1,2,3,4])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np.random.shuffle(a)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Together: A Quick Example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basic statistics on a dataset of student scores.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7315200" cy="4206240"/>
          </a:xfrm>
          <a:prstGeom prst="roundRect">
            <a:avLst>
              <a:gd name="adj" fmla="val 1739"/>
            </a:avLst>
          </a:prstGeom>
          <a:solidFill>
            <a:srgbClr val="0E1830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6858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np.array([88, 92, 79, 95, 61, 74, 88])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print('Mean   :', scores.mean())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print('Median :', np.median(scores))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print('Std Dev:', scores.std())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print('Max    :', scores.max(), 'at index', scores.argmax())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 = scores[scores &gt;= 75]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print('Passed :', passed)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print('Pass %%:', 100 * len(passed) / len(scores))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749040" cy="4206240"/>
          </a:xfrm>
          <a:prstGeom prst="roundRect">
            <a:avLst>
              <a:gd name="adj" fmla="val 1951"/>
            </a:avLst>
          </a:prstGeom>
          <a:solidFill>
            <a:srgbClr val="F4F7FC"/>
          </a:solidFill>
          <a:ln w="12700">
            <a:solidFill>
              <a:srgbClr val="8FC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388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83880" y="1920240"/>
            <a:ext cx="3383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  : 82.43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 : 88.0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 Dev: 10.72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   : 95 at idx 3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 : [88 92 79 95 88]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% : 71.4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Quick-Reference Cheat Sheet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4389120"/>
          </a:xfrm>
          <a:prstGeom prst="roundRect">
            <a:avLst>
              <a:gd name="adj" fmla="val 2857"/>
            </a:avLst>
          </a:prstGeom>
          <a:solidFill>
            <a:srgbClr val="16233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737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zeros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ones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arange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linspace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eye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50592" y="1097280"/>
            <a:ext cx="1920240" cy="4389120"/>
          </a:xfrm>
          <a:prstGeom prst="roundRect">
            <a:avLst>
              <a:gd name="adj" fmla="val 2857"/>
            </a:avLst>
          </a:prstGeom>
          <a:solidFill>
            <a:srgbClr val="2D6CDF"/>
          </a:solidFill>
          <a:ln/>
        </p:spPr>
      </p:sp>
      <p:sp>
        <p:nvSpPr>
          <p:cNvPr id="7" name="Text 5"/>
          <p:cNvSpPr/>
          <p:nvPr/>
        </p:nvSpPr>
        <p:spPr>
          <a:xfrm>
            <a:off x="2542032" y="1234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42032" y="1691640"/>
            <a:ext cx="1737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ndim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dtype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3984" y="1097280"/>
            <a:ext cx="1920240" cy="4389120"/>
          </a:xfrm>
          <a:prstGeom prst="roundRect">
            <a:avLst>
              <a:gd name="adj" fmla="val 2857"/>
            </a:avLst>
          </a:prstGeom>
          <a:solidFill>
            <a:srgbClr val="16233F"/>
          </a:solidFill>
          <a:ln/>
        </p:spPr>
      </p:sp>
      <p:sp>
        <p:nvSpPr>
          <p:cNvPr id="10" name="Text 8"/>
          <p:cNvSpPr/>
          <p:nvPr/>
        </p:nvSpPr>
        <p:spPr>
          <a:xfrm>
            <a:off x="4535424" y="1234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Reshape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35424" y="1691640"/>
            <a:ext cx="1737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reshape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flatten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ravel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vstack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hstack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37376" y="1097280"/>
            <a:ext cx="1920240" cy="4389120"/>
          </a:xfrm>
          <a:prstGeom prst="roundRect">
            <a:avLst>
              <a:gd name="adj" fmla="val 2857"/>
            </a:avLst>
          </a:prstGeom>
          <a:solidFill>
            <a:srgbClr val="2D6CDF"/>
          </a:solidFill>
          <a:ln/>
        </p:spPr>
      </p:sp>
      <p:sp>
        <p:nvSpPr>
          <p:cNvPr id="13" name="Text 11"/>
          <p:cNvSpPr/>
          <p:nvPr/>
        </p:nvSpPr>
        <p:spPr>
          <a:xfrm>
            <a:off x="6528816" y="1234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28816" y="1691640"/>
            <a:ext cx="1737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add/sub/mul/div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30768" y="1097280"/>
            <a:ext cx="1920240" cy="4389120"/>
          </a:xfrm>
          <a:prstGeom prst="roundRect">
            <a:avLst>
              <a:gd name="adj" fmla="val 2857"/>
            </a:avLst>
          </a:prstGeom>
          <a:solidFill>
            <a:srgbClr val="16233F"/>
          </a:solidFill>
          <a:ln/>
        </p:spPr>
      </p:sp>
      <p:sp>
        <p:nvSpPr>
          <p:cNvPr id="16" name="Text 14"/>
          <p:cNvSpPr/>
          <p:nvPr/>
        </p:nvSpPr>
        <p:spPr>
          <a:xfrm>
            <a:off x="8522208" y="1234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22208" y="1691640"/>
            <a:ext cx="1737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min/max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424160" y="1097280"/>
            <a:ext cx="1920240" cy="4389120"/>
          </a:xfrm>
          <a:prstGeom prst="roundRect">
            <a:avLst>
              <a:gd name="adj" fmla="val 2857"/>
            </a:avLst>
          </a:prstGeom>
          <a:solidFill>
            <a:srgbClr val="2D6CDF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0" y="1234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0" y="1691640"/>
            <a:ext cx="1737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isnan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D6CD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Practicing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way to learn NumPy is to write code — experiment in a notebook and re-run every example on this deck.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Official docs: numpy.org/doc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Practice: numpy.org/numpy-tutorials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Cheat sheet: this deck, slide 15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669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2026-07-20T09:07:24Z</dcterms:created>
  <dcterms:modified xsi:type="dcterms:W3CDTF">2026-07-20T09:07:24Z</dcterms:modified>
</cp:coreProperties>
</file>