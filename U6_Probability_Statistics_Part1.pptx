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7" r:id="rId11"/>
    <p:sldId id="264" r:id="rId12"/>
    <p:sldId id="270" r:id="rId13"/>
    <p:sldId id="271" r:id="rId14"/>
    <p:sldId id="269" r:id="rId15"/>
    <p:sldId id="265" r:id="rId16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14</c:v>
                </c:pt>
                <c:pt idx="3">
                  <c:v>11</c:v>
                </c:pt>
                <c:pt idx="4">
                  <c:v>7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63-4BD2-A567-59D8299513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F4B942"/>
              </a:solidFill>
              <a:ln w="9525" cap="flat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2.1</c:v>
                </c:pt>
                <c:pt idx="1">
                  <c:v>2.9</c:v>
                </c:pt>
                <c:pt idx="2">
                  <c:v>3.6</c:v>
                </c:pt>
                <c:pt idx="3">
                  <c:v>5</c:v>
                </c:pt>
                <c:pt idx="4">
                  <c:v>5.4</c:v>
                </c:pt>
                <c:pt idx="5">
                  <c:v>6.7</c:v>
                </c:pt>
                <c:pt idx="6">
                  <c:v>7.1</c:v>
                </c:pt>
                <c:pt idx="7">
                  <c:v>8.3000000000000007</c:v>
                </c:pt>
                <c:pt idx="8">
                  <c:v>8.9</c:v>
                </c:pt>
                <c:pt idx="9">
                  <c:v>10.199999999999999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D7-4B7A-9632-2830954558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8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i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2  ·  PHASE B — MATHEMATICAL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&amp; Statistics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r>
              <a:rPr lang="en-US" sz="27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Descriptive Statistics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· spread · shape · correlation · summarizing data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U6  ·  Built from Module 1.4 + 2.2  ·  Day 2 portion (continues on Day 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statistics? Know your data before you model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 </a:t>
            </a: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 model you must understand the data.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summarise a dataset in a few numbers — its centre, spread, shape and relationships.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lis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variables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vs numerical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balanc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median · mode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spre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· variance · std · IQR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area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· quartiles · box plot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catt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move together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(Day 3) continues with probability, Bayes' theorem, distributions and information theory (entropy / KL / mutual information).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ic_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 OF YOUR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data &amp; central tendency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classify your variables, then summarise where the data sits — its typical value.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· Part 1 ·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data &amp; variables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groups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269748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6888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— colour, city, gender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47472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68880" y="3566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— small / medium / large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99632" y="169164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2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6473952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73952" y="22402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quantities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73952" y="269748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56832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19872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countable — number of children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73952" y="347472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56832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19872" y="3566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— height, temperature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data type decides which statistics, charts and encodings you can use.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  </a:t>
            </a: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standard deviation suit numerical data; counts &amp; mode suit categorical data; the median is safe for skewed or ordinal data.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SITS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Measures of central tendency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average — sum ÷ count; sensitive to outliers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66928" y="227685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1671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middle value when sorted; robust to outliers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284378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7340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most frequent value; the only one for categories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" y="361188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 x̄ = (1/n) Σ xᵢ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5800" y="42245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every value, divide by how many there are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0" y="15727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data: mean ≠ median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217920" y="1920240"/>
          <a:ext cx="5440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6217920" y="46817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→ mean pulled right of the median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9" name="Shape 1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1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mean, median and mode on a provided CSV.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spre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 OUT IT 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Measures of spread (dispersion)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6824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572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 − min; quick but outlier-sensitive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176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σ²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average squared distance from the mean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8895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779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  σ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√variance — spread in the data's own units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493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383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Q3 − Q1; the middle 50%, robust to outliers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16052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42519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σ² = (1/n) Σ (xᵢ − x̄)²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spread.py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np.array([4, 8, 6, 5, 3, 9, 7])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data.mean()          # average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data.var()           # variance σ²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data.std()           # std deviation σ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data.max() - data.min()        # range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 q3 = np.percentile(data, [25, 75])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        # interquartile range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variance, standard deviation and IQR for a numeric column.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can share a mean yet behave very differently — spread tells them apart.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86930B-5495-42C2-04AF-161C4C4C893A}"/>
              </a:ext>
            </a:extLst>
          </p:cNvPr>
          <p:cNvSpPr txBox="1"/>
          <p:nvPr/>
        </p:nvSpPr>
        <p:spPr>
          <a:xfrm>
            <a:off x="806824" y="546847"/>
            <a:ext cx="951155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endParaRPr lang="en-US" sz="2000" b="1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measures how spread out numbers are from the mean.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calculates the average degree to which each number is different from the mean.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metrics help assess volatility in financial returns.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standard deviation indicates a wide range of returns.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tools are key for investment risk assessment.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shows how much the values of a data set vary from each other, while standard deviation reflects how much they vary from the mean.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55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ic_are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RELATIONSHIPS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Distribution shape &amp; correlation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centre and spread: how a distribution leans, where its quartiles fall, and how variables move together.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· Part 1 · 02 / 06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are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A DISTRIBUTION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Skew, quartiles &amp; the box plot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 &amp; quartiles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Q1 (25%), Q2 = median (50%), Q3 (75%)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Five-number summary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 · Q1 · median · Q3 · max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0266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169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right-skew: tail to the right (mean &gt; median)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6850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753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&amp; outliers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points beyond Q1−1.5·IQR or Q3+1.5·IQR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999232"/>
          </a:xfrm>
          <a:prstGeom prst="roundRect">
            <a:avLst>
              <a:gd name="adj" fmla="val 1829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8105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the five-number summary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29400" y="3337560"/>
            <a:ext cx="4480560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2926080"/>
            <a:ext cx="1874520" cy="822960"/>
          </a:xfrm>
          <a:prstGeom prst="rect">
            <a:avLst/>
          </a:prstGeom>
          <a:solidFill>
            <a:srgbClr val="2D6A9F">
              <a:alpha val="65000"/>
            </a:srgbClr>
          </a:solidFill>
          <a:ln w="19050">
            <a:solidFill>
              <a:srgbClr val="1626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49640" y="2926080"/>
            <a:ext cx="0" cy="82296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29400" y="3108960"/>
            <a:ext cx="0" cy="45720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09960" y="3108960"/>
            <a:ext cx="0" cy="45720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6092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924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354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65276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0936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spans the middle 50% (IQR); whiskers reach the rest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8" name="Shape 2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9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five-number summary and read a box plot of a column.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4CEC32-A6CB-56D4-E576-C3650AA84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047" y="860612"/>
            <a:ext cx="4814046" cy="44733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5B94A8-5626-AABA-5BD0-68F9C27C87C1}"/>
              </a:ext>
            </a:extLst>
          </p:cNvPr>
          <p:cNvSpPr txBox="1"/>
          <p:nvPr/>
        </p:nvSpPr>
        <p:spPr>
          <a:xfrm>
            <a:off x="385481" y="690282"/>
            <a:ext cx="664284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Skewness</a:t>
            </a:r>
          </a:p>
          <a:p>
            <a:pPr algn="just" fontAlgn="base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describes the direction and degree of asymmetry in a dataset’s distribution. Various types are as follows:</a:t>
            </a:r>
          </a:p>
          <a:p>
            <a:pPr algn="just" fontAlgn="base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Positive Skewness (Right Skew)</a:t>
            </a:r>
          </a:p>
          <a:p>
            <a:pPr algn="just" fontAlgn="base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positively skewed distribution, the right tail is longer than the left which means most data points are on the left with a few large values pulling the distribution to the right.</a:t>
            </a:r>
          </a:p>
          <a:p>
            <a:pPr algn="just" fontAlgn="base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</a:p>
          <a:p>
            <a:pPr algn="just" fontAlgn="base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&gt; Median &gt; Mode</a:t>
            </a:r>
          </a:p>
          <a:p>
            <a:pPr algn="just"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 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distribution, exam scores and stock market returns.</a:t>
            </a:r>
          </a:p>
          <a:p>
            <a:pPr algn="just" fontAlgn="base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Negative Skewness (Left Skew)</a:t>
            </a:r>
          </a:p>
          <a:p>
            <a:pPr algn="just" fontAlgn="base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negatively skewed distribution, the left tail is longer which means most data points are on the right with a few smaller values pulling the distribution to the left.</a:t>
            </a:r>
          </a:p>
          <a:p>
            <a:pPr algn="just" fontAlgn="base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</a:p>
          <a:p>
            <a:pPr algn="just" fontAlgn="base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&lt; Median &lt; Mode</a:t>
            </a:r>
          </a:p>
          <a:p>
            <a:pPr algn="just"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Test scores on easy exams, age at retirement and gestational age at birth.</a:t>
            </a:r>
          </a:p>
          <a:p>
            <a:pPr algn="just" fontAlgn="base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Zero Skewness (Symmetrical Distribution)</a:t>
            </a:r>
          </a:p>
          <a:p>
            <a:pPr algn="just" fontAlgn="base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skewness shows a perfectly symmetrical distribution where the mean, median and mode are equal. In a symmetrical distribution, the data points are evenly distributed around the central point.</a:t>
            </a:r>
          </a:p>
          <a:p>
            <a:pPr algn="just" fontAlgn="base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</a:p>
          <a:p>
            <a:pPr algn="just" fontAlgn="base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= Median = Mode</a:t>
            </a:r>
          </a:p>
          <a:p>
            <a:pPr algn="just"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perfectly balanced dataset with equal frequencies of all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382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at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RELATE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Correlation &amp; covariance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 two variables move together? (units-dependent)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50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40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 r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covariance scaled to −1 … +1 (unitless)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990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80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−1 / 0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perfect positive / perfect negative / no linear link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6301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20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correlation is not causation; it only sees linear links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55080" y="15727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 (r ≈ 0.99)</a:t>
            </a:r>
            <a:endParaRPr lang="en-US" sz="12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217920" y="1920240"/>
          <a:ext cx="5440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correlation matrix; spot the most and least related features.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B42004-0412-9C8F-816D-A9B916867286}"/>
              </a:ext>
            </a:extLst>
          </p:cNvPr>
          <p:cNvSpPr txBox="1"/>
          <p:nvPr/>
        </p:nvSpPr>
        <p:spPr>
          <a:xfrm>
            <a:off x="268942" y="896518"/>
            <a:ext cx="7333130" cy="511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 i="0" dirty="0">
                <a:solidFill>
                  <a:srgbClr val="273239"/>
                </a:solidFill>
                <a:effectLst/>
                <a:latin typeface="Source Sans 3"/>
              </a:rPr>
              <a:t>Covariance and Correlation:   </a:t>
            </a:r>
            <a:r>
              <a:rPr lang="en-US" dirty="0"/>
              <a:t>Covariance and correlation are the two key concepts in Statistics that help us analyze the relationship between two variables. </a:t>
            </a:r>
          </a:p>
          <a:p>
            <a:pPr fontAlgn="base"/>
            <a:r>
              <a:rPr lang="en-US" dirty="0"/>
              <a:t>Covariance measures how two variables change together, indicating whether they move in the same or opposite directions. </a:t>
            </a:r>
          </a:p>
          <a:p>
            <a:pPr fontAlgn="base"/>
            <a:r>
              <a:rPr lang="en-US" b="1" dirty="0"/>
              <a:t>What is Covariance</a:t>
            </a:r>
          </a:p>
          <a:p>
            <a:pPr fontAlgn="base"/>
            <a:r>
              <a:rPr lang="en-US" dirty="0"/>
              <a:t>Covariance measures how two random variables change together. It is calculated by averaging the product of their deviations from their means. </a:t>
            </a:r>
          </a:p>
          <a:p>
            <a:pPr fontAlgn="base"/>
            <a:r>
              <a:rPr lang="en-US" dirty="0"/>
              <a:t>A positive value means they move in the same direction, while a negative value means they move in opposite directions.</a:t>
            </a:r>
          </a:p>
          <a:p>
            <a:pPr fontAlgn="base"/>
            <a:r>
              <a:rPr lang="en-US" b="1" dirty="0"/>
              <a:t>Types of Covariance</a:t>
            </a:r>
          </a:p>
          <a:p>
            <a:pPr fontAlgn="base"/>
            <a:r>
              <a:rPr lang="en-US" b="1" dirty="0"/>
              <a:t>Positive Covariance</a:t>
            </a:r>
            <a:r>
              <a:rPr lang="en-US" dirty="0"/>
              <a:t>: When one variable increases, the other variable tends to increase as well and vice versa.</a:t>
            </a:r>
          </a:p>
          <a:p>
            <a:pPr fontAlgn="base"/>
            <a:r>
              <a:rPr lang="en-US" b="1" dirty="0"/>
              <a:t>Negative Covariance</a:t>
            </a:r>
            <a:r>
              <a:rPr lang="en-US" dirty="0"/>
              <a:t>: When one variable increases, the other variable tends to decrease.</a:t>
            </a:r>
          </a:p>
          <a:p>
            <a:pPr fontAlgn="base"/>
            <a:r>
              <a:rPr lang="en-US" b="1" dirty="0"/>
              <a:t>Zero Covariance</a:t>
            </a:r>
            <a:r>
              <a:rPr lang="en-US" dirty="0"/>
              <a:t>: There is no linear relationship between the two variables; they move independently of each other.</a:t>
            </a:r>
          </a:p>
          <a:p>
            <a:pPr>
              <a:lnSpc>
                <a:spcPts val="2625"/>
              </a:lnSpc>
            </a:pPr>
            <a:endParaRPr lang="en-US" b="1" i="0" dirty="0">
              <a:solidFill>
                <a:srgbClr val="273239"/>
              </a:solidFill>
              <a:effectLst/>
              <a:latin typeface="Source Sans 3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4AD9E-4E33-7372-3856-C126CA2D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071" y="896517"/>
            <a:ext cx="4589929" cy="458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00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65B856-A288-2253-1FC4-2EC6E3EF6726}"/>
              </a:ext>
            </a:extLst>
          </p:cNvPr>
          <p:cNvSpPr txBox="1"/>
          <p:nvPr/>
        </p:nvSpPr>
        <p:spPr>
          <a:xfrm>
            <a:off x="815788" y="1304060"/>
            <a:ext cx="5549153" cy="452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What is Correlation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Correlation is a standardized measure of the strength and direction of the linear relationship between two variables. It is derived from covariance and ranges between -1 and 1. Unlike covariance, which only indicates the direction of the relationship, correlation provides a standardized measure.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Positive Correlation (close to +1)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As one variable increases, the other variable also tends to increase.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Negative Correlation (close to -1)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As one variable increases, the other variable tends to decrease.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Zero Correlation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There is no linear relationship between the variables.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4AE8C-6015-D8BF-1606-2FDDA08E0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596" y="690282"/>
            <a:ext cx="5549153" cy="499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86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7110B-C6B5-D22F-8882-897D4582D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8" y="699247"/>
            <a:ext cx="6364941" cy="4867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000ACE-4EAB-F22B-591F-149FE453F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859" y="699248"/>
            <a:ext cx="5165904" cy="49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86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Summarizing a dataset in practice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79222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.info() .dtypes</a:t>
            </a:r>
            <a:endParaRPr lang="en-US" sz="1200" dirty="0"/>
          </a:p>
        </p:txBody>
      </p:sp>
      <p:pic>
        <p:nvPicPr>
          <p:cNvPr id="9" name="Image 1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2025396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46704" y="164592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11" name="Text 7"/>
          <p:cNvSpPr/>
          <p:nvPr/>
        </p:nvSpPr>
        <p:spPr>
          <a:xfrm>
            <a:off x="3529584" y="179222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29584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.describe()</a:t>
            </a:r>
            <a:endParaRPr lang="en-US" sz="1200" dirty="0"/>
          </a:p>
        </p:txBody>
      </p:sp>
      <p:pic>
        <p:nvPicPr>
          <p:cNvPr id="13" name="Image 2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025396"/>
            <a:ext cx="164592" cy="1645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44768" y="164592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15" name="Text 10"/>
          <p:cNvSpPr/>
          <p:nvPr/>
        </p:nvSpPr>
        <p:spPr>
          <a:xfrm>
            <a:off x="6327648" y="179222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SPREAD/ SHAPE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327648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.std() .skew()</a:t>
            </a:r>
            <a:endParaRPr lang="en-US" sz="1200" dirty="0"/>
          </a:p>
        </p:txBody>
      </p:sp>
      <p:pic>
        <p:nvPicPr>
          <p:cNvPr id="17" name="Image 3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025396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42832" y="164592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9125712" y="179222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9125712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.corr()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2834640"/>
            <a:ext cx="6400800" cy="1965960"/>
          </a:xfrm>
          <a:prstGeom prst="roundRect">
            <a:avLst>
              <a:gd name="adj" fmla="val 2791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4944" y="29809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841248" y="29809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987552" y="29809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1188720" y="290779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summary.py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49808" y="3218688"/>
            <a:ext cx="59984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# count, mean, std, min, quartiles, max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df['age'].median()   # robust centre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df.corr(numeric_only=True)   # correlation matrix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132320" y="2834640"/>
            <a:ext cx="4507992" cy="1965960"/>
          </a:xfrm>
          <a:prstGeom prst="roundRect">
            <a:avLst>
              <a:gd name="adj" fmla="val 3721"/>
            </a:avLst>
          </a:prstGeom>
          <a:solidFill>
            <a:srgbClr val="F2F5F9"/>
          </a:solidFill>
          <a:ln/>
        </p:spPr>
      </p:sp>
      <p:sp>
        <p:nvSpPr>
          <p:cNvPr id="28" name="Text 22"/>
          <p:cNvSpPr/>
          <p:nvPr/>
        </p:nvSpPr>
        <p:spPr>
          <a:xfrm>
            <a:off x="7333488" y="29809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.describe() gives it all at once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333488" y="3328416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· mean · std · min · 25% · 50% · 75% · max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call returns centre, spread and shape for every numeric column.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1" name="Shape 2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4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descriptive-stats report on a provided CSV and write 3 insights.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decides which stats apply</a:t>
            </a:r>
            <a:endParaRPr lang="en-US" sz="13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Mean/median/mode describe the centre</a:t>
            </a:r>
            <a:endParaRPr lang="en-US" sz="13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std &amp; IQR describe the spread</a:t>
            </a:r>
            <a:endParaRPr lang="en-US" sz="13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&amp; quartiles describe the shape</a:t>
            </a:r>
            <a:endParaRPr lang="en-US" sz="13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shows how variables relate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 / median / mode on a CSV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variance, std &amp; IQR for a column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five-number summary + box plot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correlation matrix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insights from .describe()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PART 2 (DAY 3)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1" descr="ic_dic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40487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theory &amp; axioms; conditional probability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2" descr="ic_dic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33009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— medical-test &amp; spam examples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3" descr="ic_dic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709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(Gaussian, Poisson) + entropy, KL &amp; MI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5955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ML:  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are the first thing you compute on any dataset — they reveal scale, skew, outliers and leaks before a single model is trained.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1720</Words>
  <Application>Microsoft Office PowerPoint</Application>
  <PresentationFormat>Widescreen</PresentationFormat>
  <Paragraphs>212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</vt:lpstr>
      <vt:lpstr>Century Schoolbook</vt:lpstr>
      <vt:lpstr>Courier New</vt:lpstr>
      <vt:lpstr>Nunito</vt:lpstr>
      <vt:lpstr>Source Sans 3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U6 — Probability &amp; Statistics (Part 1)</dc:title>
  <dc:subject>PptxGenJS Presentation</dc:subject>
  <dc:creator>AI/ML Training</dc:creator>
  <cp:lastModifiedBy>suneetha</cp:lastModifiedBy>
  <cp:revision>15</cp:revision>
  <dcterms:created xsi:type="dcterms:W3CDTF">2026-06-10T13:00:29Z</dcterms:created>
  <dcterms:modified xsi:type="dcterms:W3CDTF">2026-08-12T09:29:13Z</dcterms:modified>
</cp:coreProperties>
</file>