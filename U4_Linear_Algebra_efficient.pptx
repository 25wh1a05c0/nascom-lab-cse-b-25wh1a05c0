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8" r:id="rId4"/>
    <p:sldId id="258" r:id="rId5"/>
    <p:sldId id="259" r:id="rId6"/>
    <p:sldId id="260" r:id="rId7"/>
    <p:sldId id="269" r:id="rId8"/>
    <p:sldId id="270" r:id="rId9"/>
    <p:sldId id="261" r:id="rId10"/>
    <p:sldId id="262" r:id="rId11"/>
    <p:sldId id="263" r:id="rId12"/>
    <p:sldId id="274" r:id="rId13"/>
    <p:sldId id="264" r:id="rId14"/>
    <p:sldId id="271" r:id="rId15"/>
    <p:sldId id="265" r:id="rId16"/>
    <p:sldId id="272" r:id="rId17"/>
    <p:sldId id="273" r:id="rId18"/>
    <p:sldId id="26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1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ic_sq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 spc="2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2  ·  PHASE B — MATHEMATICAL FOUNDATIONS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24871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Algebra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41248" y="34930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language of data, models &amp; transformations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42245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· matrices · tensors · norms · transformations · eigenvectors · rank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U4  ·  Built from Module 1.3  ·  ~2.5 teaching hrs +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as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B begins — the maths under the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now:  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learned NumPy in U3 — linear algebra is what those arrays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dataset, weight matrix and embedding is a vector or matrix.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cube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14553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691640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Scalars → tensors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91640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represented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79392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rul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14553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88352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5422392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Dot, cross &amp; norms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422392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angle, similarity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10144" y="2670048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11312" y="2962656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matrix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3145536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19104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153144" y="29626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ops &amp; special matrices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153144" y="34198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Inverse, trace, identity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49808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rota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718304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3"/>
          <p:cNvSpPr/>
          <p:nvPr/>
        </p:nvSpPr>
        <p:spPr>
          <a:xfrm>
            <a:off x="1691640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1691640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&amp; scaling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279392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480560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eige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4718304"/>
            <a:ext cx="420624" cy="42062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388352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5422392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5422392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a map preserves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10144" y="4242816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211312" y="4535424"/>
            <a:ext cx="786384" cy="78638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40" name="Image 6" descr="ic_vsq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4718304"/>
            <a:ext cx="420624" cy="42062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119104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3E9F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33"/>
          <p:cNvSpPr/>
          <p:nvPr/>
        </p:nvSpPr>
        <p:spPr>
          <a:xfrm>
            <a:off x="9153144" y="4535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basis &amp; similarity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9153144" y="49926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systems · cosine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45" name="Text 3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41B63F-74CA-911D-15C1-784C4B3BF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243160"/>
              </p:ext>
            </p:extLst>
          </p:nvPr>
        </p:nvGraphicFramePr>
        <p:xfrm>
          <a:off x="215921" y="0"/>
          <a:ext cx="11760157" cy="4135024"/>
        </p:xfrm>
        <a:graphic>
          <a:graphicData uri="http://schemas.openxmlformats.org/drawingml/2006/table">
            <a:tbl>
              <a:tblPr/>
              <a:tblGrid>
                <a:gridCol w="556352">
                  <a:extLst>
                    <a:ext uri="{9D8B030D-6E8A-4147-A177-3AD203B41FA5}">
                      <a16:colId xmlns:a16="http://schemas.microsoft.com/office/drawing/2014/main" val="3916477069"/>
                    </a:ext>
                  </a:extLst>
                </a:gridCol>
                <a:gridCol w="3359217">
                  <a:extLst>
                    <a:ext uri="{9D8B030D-6E8A-4147-A177-3AD203B41FA5}">
                      <a16:colId xmlns:a16="http://schemas.microsoft.com/office/drawing/2014/main" val="2615065871"/>
                    </a:ext>
                  </a:extLst>
                </a:gridCol>
                <a:gridCol w="2954956">
                  <a:extLst>
                    <a:ext uri="{9D8B030D-6E8A-4147-A177-3AD203B41FA5}">
                      <a16:colId xmlns:a16="http://schemas.microsoft.com/office/drawing/2014/main" val="2609763601"/>
                    </a:ext>
                  </a:extLst>
                </a:gridCol>
                <a:gridCol w="2541068">
                  <a:extLst>
                    <a:ext uri="{9D8B030D-6E8A-4147-A177-3AD203B41FA5}">
                      <a16:colId xmlns:a16="http://schemas.microsoft.com/office/drawing/2014/main" val="1894519019"/>
                    </a:ext>
                  </a:extLst>
                </a:gridCol>
                <a:gridCol w="2348564">
                  <a:extLst>
                    <a:ext uri="{9D8B030D-6E8A-4147-A177-3AD203B41FA5}">
                      <a16:colId xmlns:a16="http://schemas.microsoft.com/office/drawing/2014/main" val="1810953918"/>
                    </a:ext>
                  </a:extLst>
                </a:gridCol>
              </a:tblGrid>
              <a:tr h="57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S.No</a:t>
                      </a:r>
                      <a:endParaRPr lang="en-IN" sz="1800" dirty="0"/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Real-World Scenario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What is Represented as a Vector?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 Vector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AI/ML Application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210971"/>
                  </a:ext>
                </a:extLst>
              </a:tr>
              <a:tr h="841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Netflix Movie Recommendation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User's movie preferences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[5, 3, 1, 2] (Action, Comedy, Romance, Horror)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Personalized movie recommendations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690311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ChatGPT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Word/Sentence embedding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[0.65, 0.82, 0.41, ...]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Natural Language Processing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935087"/>
                  </a:ext>
                </a:extLst>
              </a:tr>
              <a:tr h="3046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 Recognition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Facial features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[0.32, 0.85, 0.76, ...]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 identification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25897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Medical Diagnosis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Patient health parameters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[120, 95, 72, 24]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Disease prediction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864755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Self-Driving Cars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Camera image features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[0.25, 0.91, 0.63, ...]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Object detection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82816"/>
                  </a:ext>
                </a:extLst>
              </a:tr>
              <a:tr h="573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Banking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 transaction behavior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[Income, Balance, Transactions]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Fraud detection</a:t>
                      </a:r>
                    </a:p>
                  </a:txBody>
                  <a:tcPr marL="36876" marR="36876" marT="18438" marB="1843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28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39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cub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Scalars, vectors, matrices &amp; tensors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number to multi-dimensional arrays — the containers that hold every dataset and model weight.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·  Day 2  ·  01 / 07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Scalars, vectors, matrices &amp; tensors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Scalar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pic>
        <p:nvPicPr>
          <p:cNvPr id="11" name="Image 1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692" y="2436876"/>
            <a:ext cx="155448" cy="155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10712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3" name="Text 9"/>
          <p:cNvSpPr/>
          <p:nvPr/>
        </p:nvSpPr>
        <p:spPr>
          <a:xfrm>
            <a:off x="3593592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93592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593592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numbers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93592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[2, 5, 1]</a:t>
            </a:r>
            <a:endParaRPr lang="en-US" sz="1200" dirty="0"/>
          </a:p>
        </p:txBody>
      </p:sp>
      <p:pic>
        <p:nvPicPr>
          <p:cNvPr id="17" name="Image 2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2436876"/>
            <a:ext cx="155448" cy="1554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72784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9" name="Text 14"/>
          <p:cNvSpPr/>
          <p:nvPr/>
        </p:nvSpPr>
        <p:spPr>
          <a:xfrm>
            <a:off x="6455664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Matrix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455664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columns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55664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62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[[1,2],[3,4]]</a:t>
            </a:r>
            <a:endParaRPr lang="en-US" sz="1200" dirty="0"/>
          </a:p>
        </p:txBody>
      </p:sp>
      <p:pic>
        <p:nvPicPr>
          <p:cNvPr id="23" name="Image 3" descr="ic_arrow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836" y="2436876"/>
            <a:ext cx="155448" cy="1554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34856" y="164592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9317736" y="1810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317736" y="21214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Tensor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317736" y="259689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matrices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317736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(3,2,2)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3657600"/>
            <a:ext cx="6766560" cy="1188720"/>
          </a:xfrm>
          <a:prstGeom prst="roundRect">
            <a:avLst>
              <a:gd name="adj" fmla="val 4615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94944" y="38039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1" name="Shape 25"/>
          <p:cNvSpPr/>
          <p:nvPr/>
        </p:nvSpPr>
        <p:spPr>
          <a:xfrm>
            <a:off x="841248" y="38039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2" name="Shape 26"/>
          <p:cNvSpPr/>
          <p:nvPr/>
        </p:nvSpPr>
        <p:spPr>
          <a:xfrm>
            <a:off x="987552" y="38039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3" name="Text 27"/>
          <p:cNvSpPr/>
          <p:nvPr/>
        </p:nvSpPr>
        <p:spPr>
          <a:xfrm>
            <a:off x="1188720" y="3730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tensor_shapes.py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749808" y="4041648"/>
            <a:ext cx="6364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np.array([2, 5, 1])            # vector, shape (3,)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np.array([[1, 2], [3, 4]])     # matrix, shape (2, 2)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np.ones((3, 2, 2))             # tensor, shape (3, 2, 2)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7498080" y="3657600"/>
            <a:ext cx="4142232" cy="1188720"/>
          </a:xfrm>
          <a:prstGeom prst="roundRect">
            <a:avLst>
              <a:gd name="adj" fmla="val 6154"/>
            </a:avLst>
          </a:prstGeom>
          <a:solidFill>
            <a:srgbClr val="F2F5F9"/>
          </a:solidFill>
          <a:ln/>
        </p:spPr>
      </p:sp>
      <p:sp>
        <p:nvSpPr>
          <p:cNvPr id="36" name="Text 30"/>
          <p:cNvSpPr/>
          <p:nvPr/>
        </p:nvSpPr>
        <p:spPr>
          <a:xfrm>
            <a:off x="7699248" y="3767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ML terms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699248" y="4078224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= a vector · a dataset = a matrix · a batch of images = a 4-D tensor.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39" name="Shape 3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0" name="Image 4" descr="ic_flask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ops in NumPy — addition, transpose and reshape.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.shape attribute is the first thing to check on any ML array.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OF VECTORS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Dot &amp; cross products, and norms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7" name="Image 1" descr="ic_do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45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956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= Σ aᵢbᵢ — measures alignment; zero means perpendicular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1" name="Image 2" descr="ic_vec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42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2852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a×b — a new vector perpendicular to both (3-D)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456432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5" name="Image 3" descr="ic_rul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6027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438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 (length)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01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= Σ|aᵢ| · L2 = √Σaᵢ² · L∞ = max|aᵢ|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9" name="Image 4" descr="ic_compass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4988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3342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0160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 = a·b / (‖a‖‖b‖) — angle, not magnitude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09360" y="1664208"/>
            <a:ext cx="5330952" cy="2651760"/>
          </a:xfrm>
          <a:prstGeom prst="roundRect">
            <a:avLst>
              <a:gd name="adj" fmla="val 2069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vectors.py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510528" y="2048256"/>
            <a:ext cx="4928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np.array([1, 2, 3])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np.array([4, 0, 1])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np.dot(a, b)              # 7  (alignment)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np.cross(a, b)            # perpendicular vec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np.linalg.norm(a)         # L2 length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np.linalg.norm(a, 1)      # L1 length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= a@b/(norm(a)*norm(b))  # similarity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L1 / L2 norms + cosine similarity on 3 vector pairs.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the backbone of search, recommendations and embeddings.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0821DD-246D-8AA7-7264-9167F861D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580125"/>
              </p:ext>
            </p:extLst>
          </p:nvPr>
        </p:nvGraphicFramePr>
        <p:xfrm>
          <a:off x="346509" y="490888"/>
          <a:ext cx="11444436" cy="3600862"/>
        </p:xfrm>
        <a:graphic>
          <a:graphicData uri="http://schemas.openxmlformats.org/drawingml/2006/table">
            <a:tbl>
              <a:tblPr/>
              <a:tblGrid>
                <a:gridCol w="673769">
                  <a:extLst>
                    <a:ext uri="{9D8B030D-6E8A-4147-A177-3AD203B41FA5}">
                      <a16:colId xmlns:a16="http://schemas.microsoft.com/office/drawing/2014/main" val="3294973738"/>
                    </a:ext>
                  </a:extLst>
                </a:gridCol>
                <a:gridCol w="2425566">
                  <a:extLst>
                    <a:ext uri="{9D8B030D-6E8A-4147-A177-3AD203B41FA5}">
                      <a16:colId xmlns:a16="http://schemas.microsoft.com/office/drawing/2014/main" val="4181571161"/>
                    </a:ext>
                  </a:extLst>
                </a:gridCol>
                <a:gridCol w="1963554">
                  <a:extLst>
                    <a:ext uri="{9D8B030D-6E8A-4147-A177-3AD203B41FA5}">
                      <a16:colId xmlns:a16="http://schemas.microsoft.com/office/drawing/2014/main" val="2421748990"/>
                    </a:ext>
                  </a:extLst>
                </a:gridCol>
                <a:gridCol w="2088682">
                  <a:extLst>
                    <a:ext uri="{9D8B030D-6E8A-4147-A177-3AD203B41FA5}">
                      <a16:colId xmlns:a16="http://schemas.microsoft.com/office/drawing/2014/main" val="2997445564"/>
                    </a:ext>
                  </a:extLst>
                </a:gridCol>
                <a:gridCol w="2358952">
                  <a:extLst>
                    <a:ext uri="{9D8B030D-6E8A-4147-A177-3AD203B41FA5}">
                      <a16:colId xmlns:a16="http://schemas.microsoft.com/office/drawing/2014/main" val="3897929288"/>
                    </a:ext>
                  </a:extLst>
                </a:gridCol>
                <a:gridCol w="1933913">
                  <a:extLst>
                    <a:ext uri="{9D8B030D-6E8A-4147-A177-3AD203B41FA5}">
                      <a16:colId xmlns:a16="http://schemas.microsoft.com/office/drawing/2014/main" val="3014649829"/>
                    </a:ext>
                  </a:extLst>
                </a:gridCol>
              </a:tblGrid>
              <a:tr h="31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S.No</a:t>
                      </a:r>
                      <a:endParaRPr lang="en-IN" sz="1400" dirty="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Application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Vector 1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Vector 2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Dot Product Tells Us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Real-Life Outcome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391167"/>
                  </a:ext>
                </a:extLst>
              </a:tr>
              <a:tr h="44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Netflix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 preferences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Movie features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How well the movie matches the user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Recommend similar movies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147934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Google Search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Search query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Webpage content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Relevance score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Rank webpages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90003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 Recognition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 vector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Stored face vector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Facial similarity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Unlock phone / Attendance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298365"/>
                  </a:ext>
                </a:extLst>
              </a:tr>
              <a:tr h="447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Fraud Detection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Current transaction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 transaction pattern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Transaction similarity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Detect anomalies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391270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Self-Driving Cars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Captured object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Learned object features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Object similarity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Recognize traffic signs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744482"/>
                  </a:ext>
                </a:extLst>
              </a:tr>
              <a:tr h="31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Resume Screening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Candidate skills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Job requirements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Skill match score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Shortlist candidates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70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155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85674C-9160-5804-7291-9CAD2C31F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904074"/>
              </p:ext>
            </p:extLst>
          </p:nvPr>
        </p:nvGraphicFramePr>
        <p:xfrm>
          <a:off x="433138" y="250257"/>
          <a:ext cx="11088300" cy="5926708"/>
        </p:xfrm>
        <a:graphic>
          <a:graphicData uri="http://schemas.openxmlformats.org/drawingml/2006/table">
            <a:tbl>
              <a:tblPr/>
              <a:tblGrid>
                <a:gridCol w="2217660">
                  <a:extLst>
                    <a:ext uri="{9D8B030D-6E8A-4147-A177-3AD203B41FA5}">
                      <a16:colId xmlns:a16="http://schemas.microsoft.com/office/drawing/2014/main" val="1813260365"/>
                    </a:ext>
                  </a:extLst>
                </a:gridCol>
                <a:gridCol w="2217660">
                  <a:extLst>
                    <a:ext uri="{9D8B030D-6E8A-4147-A177-3AD203B41FA5}">
                      <a16:colId xmlns:a16="http://schemas.microsoft.com/office/drawing/2014/main" val="3267467617"/>
                    </a:ext>
                  </a:extLst>
                </a:gridCol>
                <a:gridCol w="2217660">
                  <a:extLst>
                    <a:ext uri="{9D8B030D-6E8A-4147-A177-3AD203B41FA5}">
                      <a16:colId xmlns:a16="http://schemas.microsoft.com/office/drawing/2014/main" val="360365415"/>
                    </a:ext>
                  </a:extLst>
                </a:gridCol>
                <a:gridCol w="2217660">
                  <a:extLst>
                    <a:ext uri="{9D8B030D-6E8A-4147-A177-3AD203B41FA5}">
                      <a16:colId xmlns:a16="http://schemas.microsoft.com/office/drawing/2014/main" val="894314142"/>
                    </a:ext>
                  </a:extLst>
                </a:gridCol>
                <a:gridCol w="2217660">
                  <a:extLst>
                    <a:ext uri="{9D8B030D-6E8A-4147-A177-3AD203B41FA5}">
                      <a16:colId xmlns:a16="http://schemas.microsoft.com/office/drawing/2014/main" val="2317097199"/>
                    </a:ext>
                  </a:extLst>
                </a:gridCol>
              </a:tblGrid>
              <a:tr h="474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Norm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Simple Meaning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Real-World Scenario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Example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AI/ML Application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501106"/>
                  </a:ext>
                </a:extLst>
              </a:tr>
              <a:tr h="1185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Norm</a:t>
                      </a:r>
                      <a:endParaRPr lang="en-IN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Length or size of a vector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Walking from home to college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The distance you travel from home to college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Measuring the magnitude of feature vectors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91948"/>
                  </a:ext>
                </a:extLst>
              </a:tr>
              <a:tr h="154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L1 Norm (Manhattan/City Block Distance)</a:t>
                      </a:r>
                      <a:endParaRPr lang="en-IN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Total distance traveled along horizontal and vertical paths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Driving through city roads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taxi in New York travels block by block instead of diagonally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Lasso Regression, Sparse Models, Feature Selection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70013"/>
                  </a:ext>
                </a:extLst>
              </a:tr>
              <a:tr h="11853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L2 Norm (Euclidean Distance)</a:t>
                      </a:r>
                      <a:endParaRPr lang="en-IN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Straight-line (shortest) distance between two points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Flying a drone directly to its destination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 drone flies directly from Point A to Point B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K-Means Clustering, KNN, Image Recognition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365797"/>
                  </a:ext>
                </a:extLst>
              </a:tr>
              <a:tr h="1540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Infinity Norm (Maximum Norm)</a:t>
                      </a:r>
                      <a:endParaRPr lang="en-IN" sz="170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Largest value in a vector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Finding the highest exam score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Student marks: [85, 92, 78] → Maximum = 92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Detecting maximum error, Quality Control, Neural Networks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845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28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matri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Operations &amp; special matrices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8105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21762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of 1s; A·I = 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56432" y="166420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3621024" y="1810512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 A⁻¹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21024" y="21762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A·A⁻¹ = I (undoes a map)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07238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4381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 only on diagonal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56432" y="292608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2F5F9"/>
          </a:solidFill>
          <a:ln/>
        </p:spPr>
      </p:sp>
      <p:sp>
        <p:nvSpPr>
          <p:cNvPr id="16" name="Text 13"/>
          <p:cNvSpPr/>
          <p:nvPr/>
        </p:nvSpPr>
        <p:spPr>
          <a:xfrm>
            <a:off x="3621024" y="3072384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/ Orthogonal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21024" y="34381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Aᵀ = A   ·   AᵀA = 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09360" y="1664208"/>
            <a:ext cx="5330952" cy="2670048"/>
          </a:xfrm>
          <a:prstGeom prst="roundRect">
            <a:avLst>
              <a:gd name="adj" fmla="val 2055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matrix_ops.py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10528" y="2048256"/>
            <a:ext cx="492861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np.array([[2., 1.], [1., 3.]])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@ B            # matrix multiply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A.T              # transpose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np.linalg.inv(A) # inverse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np.trace(A)      # sum of diagonal = 5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np.allclose(A, A.T)        # symmetric?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np.allclose(Q.T @ Q, np.eye(2))  # orthogonal?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inverse &amp; trace; test whether matrices are symmetric &amp; orthogonal.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is composition: applying one transformation after another.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ic_rota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3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STRUCTURE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matrices move and describe space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are actions on space. Eigenvectors, rank and basis reveal what those actions really do.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 ·  Day 2  ·  02 / 07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rota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ACTIONS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Transformations: rotation &amp; scaling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4937760" cy="3108960"/>
          </a:xfrm>
          <a:prstGeom prst="roundRect">
            <a:avLst>
              <a:gd name="adj" fmla="val 1765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3246120"/>
            <a:ext cx="438912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1965960"/>
            <a:ext cx="0" cy="256032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2331720"/>
            <a:ext cx="914400" cy="914400"/>
          </a:xfrm>
          <a:prstGeom prst="rect">
            <a:avLst/>
          </a:prstGeom>
          <a:solidFill>
            <a:srgbClr val="2D6A9F">
              <a:alpha val="45000"/>
            </a:srgbClr>
          </a:solidFill>
          <a:ln w="19050">
            <a:solidFill>
              <a:srgbClr val="2D6A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2743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 rot="20100000">
            <a:off x="3108960" y="1965960"/>
            <a:ext cx="1280160" cy="1280160"/>
          </a:xfrm>
          <a:prstGeom prst="rect">
            <a:avLst/>
          </a:prstGeom>
          <a:solidFill>
            <a:srgbClr val="F4B942">
              <a:alpha val="45000"/>
            </a:srgbClr>
          </a:solidFill>
          <a:ln w="19050">
            <a:solidFill>
              <a:srgbClr val="C994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1463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+ rotated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97880" y="17647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1627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stretch / shrink along axes — diagonal matrix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97880" y="231343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21762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turn vectors by angle θ — rotation matrix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897880" y="2862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2724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/ reflection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skew or mirror space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97880" y="3429000"/>
            <a:ext cx="5742432" cy="1371600"/>
          </a:xfrm>
          <a:prstGeom prst="roundRect">
            <a:avLst>
              <a:gd name="adj" fmla="val 4000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44184" y="357530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8"/>
          <p:cNvSpPr/>
          <p:nvPr/>
        </p:nvSpPr>
        <p:spPr>
          <a:xfrm>
            <a:off x="6190488" y="357530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19"/>
          <p:cNvSpPr/>
          <p:nvPr/>
        </p:nvSpPr>
        <p:spPr>
          <a:xfrm>
            <a:off x="6336792" y="357530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0"/>
          <p:cNvSpPr/>
          <p:nvPr/>
        </p:nvSpPr>
        <p:spPr>
          <a:xfrm>
            <a:off x="6537960" y="350215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rotate.py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099048" y="3813048"/>
            <a:ext cx="53400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theta = np.radians(25)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np.array([[np.cos(theta), -np.sin(theta)],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[np.sin(theta),  np.cos(theta)]])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@ point   # rotate a point about the origin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6" name="Shape 23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7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2 transformations; plot the original vs the transformed shape.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D2C23-0B33-7884-1AA0-207202F0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19" y="-192505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615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eige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DIRECTIONS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Eigenvalues &amp; eigenvectors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212080" cy="1097280"/>
          </a:xfrm>
          <a:prstGeom prst="roundRect">
            <a:avLst>
              <a:gd name="adj" fmla="val 7500"/>
            </a:avLst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664208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 = λ v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only stretches v — it never rotates 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6928" y="299008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80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 v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direction a transformation leaves pointing the same way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5935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4838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λ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much that direction is stretched (or flipped if negative)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19709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0873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</a:t>
            </a: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foundation of PCA, SVD and stability analysis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645920"/>
            <a:ext cx="5513832" cy="2743200"/>
          </a:xfrm>
          <a:prstGeom prst="roundRect">
            <a:avLst>
              <a:gd name="adj" fmla="val 2000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72784" y="17922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19088" y="17922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565392" y="17922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17190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eigen.py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327648" y="2029968"/>
            <a:ext cx="511149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np.array([[2., 0.],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[0., 3.]])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vals, vecs = np.linalg.eig(A)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vals   # array([2., 3.])  -&gt; the λ's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vecs   # columns are the eigenvectors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check: A @ v equals lambda * v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np.allclose(A @ vecs[:,0], vals[0]*vecs[:,0])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2" name="Shape 19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3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eigenvalues/vectors of a 2×2 matrix and verify A·v = λ·v.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applied side — PCA, SVD, dimensionality reduction — returns in U11.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56B70D-C5BD-1520-7A05-BFACEDC55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805622"/>
              </p:ext>
            </p:extLst>
          </p:nvPr>
        </p:nvGraphicFramePr>
        <p:xfrm>
          <a:off x="433137" y="192505"/>
          <a:ext cx="11261559" cy="6352670"/>
        </p:xfrm>
        <a:graphic>
          <a:graphicData uri="http://schemas.openxmlformats.org/drawingml/2006/table">
            <a:tbl>
              <a:tblPr/>
              <a:tblGrid>
                <a:gridCol w="3753853">
                  <a:extLst>
                    <a:ext uri="{9D8B030D-6E8A-4147-A177-3AD203B41FA5}">
                      <a16:colId xmlns:a16="http://schemas.microsoft.com/office/drawing/2014/main" val="384776490"/>
                    </a:ext>
                  </a:extLst>
                </a:gridCol>
                <a:gridCol w="3753853">
                  <a:extLst>
                    <a:ext uri="{9D8B030D-6E8A-4147-A177-3AD203B41FA5}">
                      <a16:colId xmlns:a16="http://schemas.microsoft.com/office/drawing/2014/main" val="2778643545"/>
                    </a:ext>
                  </a:extLst>
                </a:gridCol>
                <a:gridCol w="3753853">
                  <a:extLst>
                    <a:ext uri="{9D8B030D-6E8A-4147-A177-3AD203B41FA5}">
                      <a16:colId xmlns:a16="http://schemas.microsoft.com/office/drawing/2014/main" val="1917103651"/>
                    </a:ext>
                  </a:extLst>
                </a:gridCol>
              </a:tblGrid>
              <a:tr h="55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What Eigenvectors Find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What Eigenvalues Tell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84096"/>
                  </a:ext>
                </a:extLst>
              </a:tr>
              <a:tr h="966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Best directions in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How much information each direction contains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01429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Face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Important facial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Which features are most important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850430"/>
                  </a:ext>
                </a:extLst>
              </a:tr>
              <a:tr h="966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Hidden user preferences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Importance of each preference pattern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916541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Google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Important webpage 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Page importance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3049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Speech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Important voice characteristics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Significant voice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445207"/>
                  </a:ext>
                </a:extLst>
              </a:tr>
              <a:tr h="552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Fraud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Normal transaction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Degree of abnormality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85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635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equal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MATRIX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Rank, basis &amp; Gaussian elimination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64208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7" name="Image 1" descr="ic_lis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16459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elimination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0160" y="19568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row-reduce to echelon form to solve Ax = b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1" name="Image 2" descr="ic_matrix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42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0160" y="2852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independent rows/cols — the 'real' dimensions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3456432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5" name="Image 3" descr="ic_ve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60273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43814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&amp; span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01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set of vectors that builds the whole space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4352544"/>
            <a:ext cx="566928" cy="566928"/>
          </a:xfrm>
          <a:prstGeom prst="ellipse">
            <a:avLst/>
          </a:prstGeom>
          <a:solidFill>
            <a:srgbClr val="F2F5F9"/>
          </a:solidFill>
          <a:ln/>
        </p:spPr>
      </p:sp>
      <p:pic>
        <p:nvPicPr>
          <p:cNvPr id="19" name="Image 4" descr="ic_eigen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4988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80160" y="433425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space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0160" y="46451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directions a matrix collapses to zero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309360" y="1664208"/>
            <a:ext cx="5330952" cy="2651760"/>
          </a:xfrm>
          <a:prstGeom prst="roundRect">
            <a:avLst>
              <a:gd name="adj" fmla="val 2069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45566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17"/>
          <p:cNvSpPr/>
          <p:nvPr/>
        </p:nvSpPr>
        <p:spPr>
          <a:xfrm>
            <a:off x="660196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18"/>
          <p:cNvSpPr/>
          <p:nvPr/>
        </p:nvSpPr>
        <p:spPr>
          <a:xfrm>
            <a:off x="674827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19"/>
          <p:cNvSpPr/>
          <p:nvPr/>
        </p:nvSpPr>
        <p:spPr>
          <a:xfrm>
            <a:off x="6949440" y="1737360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solve_system.py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6510528" y="2048256"/>
            <a:ext cx="4928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Solve a 3x3 system  A x = b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np.array([[2,1,-1],[ -3,-1,2],[-2,1,2]])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np.array([8, -11, -3])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np.linalg.solve(A, b)   # [2, 3, -1]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np.linalg.matrix_rank(A)    # 3 (full rank)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full rank -&gt; unique solution exists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9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30" name="Image 5" descr="ic_flask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3×3 system; interpret its rank and null space.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tells you whether a system has one, none, or infinitely many solutions.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F45960-9EDD-CE4D-8F32-2FFC6B72C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37216"/>
              </p:ext>
            </p:extLst>
          </p:nvPr>
        </p:nvGraphicFramePr>
        <p:xfrm>
          <a:off x="442761" y="644893"/>
          <a:ext cx="10963176" cy="6882598"/>
        </p:xfrm>
        <a:graphic>
          <a:graphicData uri="http://schemas.openxmlformats.org/drawingml/2006/table">
            <a:tbl>
              <a:tblPr/>
              <a:tblGrid>
                <a:gridCol w="1827196">
                  <a:extLst>
                    <a:ext uri="{9D8B030D-6E8A-4147-A177-3AD203B41FA5}">
                      <a16:colId xmlns:a16="http://schemas.microsoft.com/office/drawing/2014/main" val="700194571"/>
                    </a:ext>
                  </a:extLst>
                </a:gridCol>
                <a:gridCol w="1827196">
                  <a:extLst>
                    <a:ext uri="{9D8B030D-6E8A-4147-A177-3AD203B41FA5}">
                      <a16:colId xmlns:a16="http://schemas.microsoft.com/office/drawing/2014/main" val="3348287286"/>
                    </a:ext>
                  </a:extLst>
                </a:gridCol>
                <a:gridCol w="1827196">
                  <a:extLst>
                    <a:ext uri="{9D8B030D-6E8A-4147-A177-3AD203B41FA5}">
                      <a16:colId xmlns:a16="http://schemas.microsoft.com/office/drawing/2014/main" val="1023779799"/>
                    </a:ext>
                  </a:extLst>
                </a:gridCol>
                <a:gridCol w="1827196">
                  <a:extLst>
                    <a:ext uri="{9D8B030D-6E8A-4147-A177-3AD203B41FA5}">
                      <a16:colId xmlns:a16="http://schemas.microsoft.com/office/drawing/2014/main" val="1040252099"/>
                    </a:ext>
                  </a:extLst>
                </a:gridCol>
                <a:gridCol w="1827196">
                  <a:extLst>
                    <a:ext uri="{9D8B030D-6E8A-4147-A177-3AD203B41FA5}">
                      <a16:colId xmlns:a16="http://schemas.microsoft.com/office/drawing/2014/main" val="738544598"/>
                    </a:ext>
                  </a:extLst>
                </a:gridCol>
                <a:gridCol w="1827196">
                  <a:extLst>
                    <a:ext uri="{9D8B030D-6E8A-4147-A177-3AD203B41FA5}">
                      <a16:colId xmlns:a16="http://schemas.microsoft.com/office/drawing/2014/main" val="1890774161"/>
                    </a:ext>
                  </a:extLst>
                </a:gridCol>
              </a:tblGrid>
              <a:tr h="302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S.No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Scenario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Matrix Represents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Independent Rows/Columns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Explanation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34152"/>
                  </a:ext>
                </a:extLst>
              </a:tr>
              <a:tr h="563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Classroom Attendance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Student attendance for different days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Each day's attendance is unique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Every day's attendance provides new information.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789786"/>
                  </a:ext>
                </a:extLst>
              </a:tr>
              <a:tr h="433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2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Duplicate Student Records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Same student record repeated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Duplicate rows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Low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Repeated rows do not add new information.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805047"/>
                  </a:ext>
                </a:extLst>
              </a:tr>
              <a:tr h="4330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Sensor Network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Temperature sensors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Sensors placed at different locations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Each sensor gives unique measurements.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033832"/>
                  </a:ext>
                </a:extLst>
              </a:tr>
              <a:tr h="563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Hospital Patient Records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BP, Sugar, BMI, Age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Different medical parameters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Each parameter provides unique health information.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297519"/>
                  </a:ext>
                </a:extLst>
              </a:tr>
              <a:tr h="694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5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Image Processing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Pixel matrix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Independent pixel patterns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More independent patterns = richer image information.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30671"/>
                  </a:ext>
                </a:extLst>
              </a:tr>
              <a:tr h="6940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6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Recommendation System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User ratings for movies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Different user preferences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High Rank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More unique preferences improve recommendations.</a:t>
                      </a:r>
                    </a:p>
                  </a:txBody>
                  <a:tcPr marL="33995" marR="33995" marT="16997" marB="169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6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31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B86D4C-A3E2-35B6-D415-DC1DAE1E4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13576"/>
              </p:ext>
            </p:extLst>
          </p:nvPr>
        </p:nvGraphicFramePr>
        <p:xfrm>
          <a:off x="182880" y="231006"/>
          <a:ext cx="11588815" cy="6197575"/>
        </p:xfrm>
        <a:graphic>
          <a:graphicData uri="http://schemas.openxmlformats.org/drawingml/2006/table">
            <a:tbl>
              <a:tblPr/>
              <a:tblGrid>
                <a:gridCol w="2317763">
                  <a:extLst>
                    <a:ext uri="{9D8B030D-6E8A-4147-A177-3AD203B41FA5}">
                      <a16:colId xmlns:a16="http://schemas.microsoft.com/office/drawing/2014/main" val="364880695"/>
                    </a:ext>
                  </a:extLst>
                </a:gridCol>
                <a:gridCol w="2317763">
                  <a:extLst>
                    <a:ext uri="{9D8B030D-6E8A-4147-A177-3AD203B41FA5}">
                      <a16:colId xmlns:a16="http://schemas.microsoft.com/office/drawing/2014/main" val="194976230"/>
                    </a:ext>
                  </a:extLst>
                </a:gridCol>
                <a:gridCol w="2317763">
                  <a:extLst>
                    <a:ext uri="{9D8B030D-6E8A-4147-A177-3AD203B41FA5}">
                      <a16:colId xmlns:a16="http://schemas.microsoft.com/office/drawing/2014/main" val="1674665998"/>
                    </a:ext>
                  </a:extLst>
                </a:gridCol>
                <a:gridCol w="2317763">
                  <a:extLst>
                    <a:ext uri="{9D8B030D-6E8A-4147-A177-3AD203B41FA5}">
                      <a16:colId xmlns:a16="http://schemas.microsoft.com/office/drawing/2014/main" val="1633309793"/>
                    </a:ext>
                  </a:extLst>
                </a:gridCol>
                <a:gridCol w="2317763">
                  <a:extLst>
                    <a:ext uri="{9D8B030D-6E8A-4147-A177-3AD203B41FA5}">
                      <a16:colId xmlns:a16="http://schemas.microsoft.com/office/drawing/2014/main" val="1974661276"/>
                    </a:ext>
                  </a:extLst>
                </a:gridCol>
              </a:tblGrid>
              <a:tr h="483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S.No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Real-World Scenario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Problem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How Gaussian Elimination Helps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AI/ML Application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131183"/>
                  </a:ext>
                </a:extLst>
              </a:tr>
              <a:tr h="483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1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Banking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Find loan, interest, and EMI values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Solve multiple financial equations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Financial Analytics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929424"/>
                  </a:ext>
                </a:extLst>
              </a:tr>
              <a:tr h="662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2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Traffic Analysis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Find vehicles on different roads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Eliminate traffic counts road by road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Smart Traffic Management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041448"/>
                  </a:ext>
                </a:extLst>
              </a:tr>
              <a:tr h="662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3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Electrical Circuits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Find unknown currents and voltages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Solve simultaneous circuit equations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Circuit Simulation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12424"/>
                  </a:ext>
                </a:extLst>
              </a:tr>
              <a:tr h="483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4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Supply Chain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Determine stock in warehouses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Solve inventory equations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Logistics Optimization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939312"/>
                  </a:ext>
                </a:extLst>
              </a:tr>
              <a:tr h="483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5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Robotics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Calculate robot arm movement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Solve coordinate equations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Robot Motion Planning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942529"/>
                  </a:ext>
                </a:extLst>
              </a:tr>
              <a:tr h="6629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6</a:t>
                      </a:r>
                      <a:endParaRPr lang="en-IN" sz="1400"/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Machine Learning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Solve linear regression equations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Compute model parameters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Model Training</a:t>
                      </a:r>
                    </a:p>
                  </a:txBody>
                  <a:tcPr marL="48891" marR="48891" marT="24446" marB="244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24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691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3" name="Image 0" descr="ic_vsq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5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SPACES IN PRACTICE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Similarity &amp; embeddings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images and users all become points in a high-dimensional vector space. Closeness in that space means similarity in meaning.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text/images to vectors that capture meaning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4498848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498848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direction, not length — robust to scale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83296" y="2148840"/>
            <a:ext cx="3584448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8266176" y="2295144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66176" y="2660904"/>
            <a:ext cx="3218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vectors = most similar items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52044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0E1B2E"/>
          </a:solidFill>
          <a:ln/>
          <a:effectLst>
            <a:outerShdw blurRad="1016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" y="366674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841248" y="366674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987552" y="366674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359359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embedding_similarity.py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9808" y="3904488"/>
            <a:ext cx="106893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numpy.linalg import norm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cosine(a, b):  return a @ b / (norm(a) * norm(b))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cosine(king, queen)  # ~0.85 (close in meaning)   vs   cosine(king, apple)  # ~0.10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3" name="Shape 2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4" name="Image 1" descr="ic_flas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cosine similarity of 2 text embeddings.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" y="64373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· Linear Algebra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2044</Words>
  <Application>Microsoft Office PowerPoint</Application>
  <PresentationFormat>Widescreen</PresentationFormat>
  <Paragraphs>395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U4 — Linear Algebra</dc:title>
  <dc:subject>PptxGenJS Presentation</dc:subject>
  <dc:creator>AI/ML Training</dc:creator>
  <cp:lastModifiedBy>kanakamedala vineela</cp:lastModifiedBy>
  <cp:revision>6</cp:revision>
  <dcterms:created xsi:type="dcterms:W3CDTF">2026-06-10T12:40:43Z</dcterms:created>
  <dcterms:modified xsi:type="dcterms:W3CDTF">2026-08-03T05:03:25Z</dcterms:modified>
</cp:coreProperties>
</file>