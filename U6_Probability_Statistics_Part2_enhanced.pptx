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83" r:id="rId10"/>
    <p:sldId id="284" r:id="rId11"/>
    <p:sldId id="285" r:id="rId12"/>
    <p:sldId id="263" r:id="rId13"/>
    <p:sldId id="264" r:id="rId14"/>
    <p:sldId id="268" r:id="rId15"/>
    <p:sldId id="269" r:id="rId16"/>
    <p:sldId id="270" r:id="rId17"/>
    <p:sldId id="271" r:id="rId18"/>
    <p:sldId id="265" r:id="rId19"/>
    <p:sldId id="272" r:id="rId20"/>
    <p:sldId id="273" r:id="rId21"/>
    <p:sldId id="274" r:id="rId22"/>
    <p:sldId id="275" r:id="rId23"/>
    <p:sldId id="276" r:id="rId24"/>
    <p:sldId id="266" r:id="rId25"/>
    <p:sldId id="277" r:id="rId26"/>
    <p:sldId id="278" r:id="rId27"/>
    <p:sldId id="279" r:id="rId28"/>
    <p:sldId id="280" r:id="rId29"/>
    <p:sldId id="281" r:id="rId30"/>
    <p:sldId id="267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pdf</c:v>
                </c:pt>
              </c:strCache>
            </c:strRef>
          </c:tx>
          <c:spPr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strRef>
              <c:f>Sheet1!$A$2:$A$82</c:f>
              <c:strCache>
                <c:ptCount val="81"/>
                <c:pt idx="0">
                  <c:v>-4.0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-3.0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-2.0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-1.0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0.0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1.0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2.0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3.0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4.0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3.3546262790251185E-4</c:v>
                </c:pt>
                <c:pt idx="1">
                  <c:v>4.9795542150327392E-4</c:v>
                </c:pt>
                <c:pt idx="2">
                  <c:v>7.3180241888047277E-4</c:v>
                </c:pt>
                <c:pt idx="3">
                  <c:v>1.0647662366679196E-3</c:v>
                </c:pt>
                <c:pt idx="4">
                  <c:v>1.533810679324463E-3</c:v>
                </c:pt>
                <c:pt idx="5">
                  <c:v>2.1874911181828851E-3</c:v>
                </c:pt>
                <c:pt idx="6">
                  <c:v>3.0887154082367718E-3</c:v>
                </c:pt>
                <c:pt idx="7">
                  <c:v>4.3178400076330815E-3</c:v>
                </c:pt>
                <c:pt idx="8">
                  <c:v>5.9760228950059375E-3</c:v>
                </c:pt>
                <c:pt idx="9">
                  <c:v>8.1887010143740745E-3</c:v>
                </c:pt>
                <c:pt idx="10">
                  <c:v>1.1108996538242306E-2</c:v>
                </c:pt>
                <c:pt idx="11">
                  <c:v>1.4920786069067842E-2</c:v>
                </c:pt>
                <c:pt idx="12">
                  <c:v>1.9841094744370298E-2</c:v>
                </c:pt>
                <c:pt idx="13">
                  <c:v>2.6121409853918223E-2</c:v>
                </c:pt>
                <c:pt idx="14">
                  <c:v>3.4047454734599331E-2</c:v>
                </c:pt>
                <c:pt idx="15">
                  <c:v>4.393693362340742E-2</c:v>
                </c:pt>
                <c:pt idx="16">
                  <c:v>5.6134762834133725E-2</c:v>
                </c:pt>
                <c:pt idx="17">
                  <c:v>7.1005353739637012E-2</c:v>
                </c:pt>
                <c:pt idx="18">
                  <c:v>8.8921617459386301E-2</c:v>
                </c:pt>
                <c:pt idx="19">
                  <c:v>0.11025052530448522</c:v>
                </c:pt>
                <c:pt idx="20">
                  <c:v>0.1353352832366127</c:v>
                </c:pt>
                <c:pt idx="21">
                  <c:v>0.1644744565771549</c:v>
                </c:pt>
                <c:pt idx="22">
                  <c:v>0.19789869908361465</c:v>
                </c:pt>
                <c:pt idx="23">
                  <c:v>0.23574607655586358</c:v>
                </c:pt>
                <c:pt idx="24">
                  <c:v>0.27803730045319408</c:v>
                </c:pt>
                <c:pt idx="25">
                  <c:v>0.32465246735834974</c:v>
                </c:pt>
                <c:pt idx="26">
                  <c:v>0.37531109885139957</c:v>
                </c:pt>
                <c:pt idx="27">
                  <c:v>0.42955735821073909</c:v>
                </c:pt>
                <c:pt idx="28">
                  <c:v>0.48675225595997168</c:v>
                </c:pt>
                <c:pt idx="29">
                  <c:v>0.5460744266397094</c:v>
                </c:pt>
                <c:pt idx="30">
                  <c:v>0.60653065971263342</c:v>
                </c:pt>
                <c:pt idx="31">
                  <c:v>0.66697681085847438</c:v>
                </c:pt>
                <c:pt idx="32">
                  <c:v>0.72614903707369094</c:v>
                </c:pt>
                <c:pt idx="33">
                  <c:v>0.78270453824186825</c:v>
                </c:pt>
                <c:pt idx="34">
                  <c:v>0.835270211411272</c:v>
                </c:pt>
                <c:pt idx="35">
                  <c:v>0.88249690258459546</c:v>
                </c:pt>
                <c:pt idx="36">
                  <c:v>0.92311634638663576</c:v>
                </c:pt>
                <c:pt idx="37">
                  <c:v>0.95599748183309996</c:v>
                </c:pt>
                <c:pt idx="38">
                  <c:v>0.98019867330675525</c:v>
                </c:pt>
                <c:pt idx="39">
                  <c:v>0.99501247919268232</c:v>
                </c:pt>
                <c:pt idx="40">
                  <c:v>1</c:v>
                </c:pt>
                <c:pt idx="41">
                  <c:v>0.99501247919268232</c:v>
                </c:pt>
                <c:pt idx="42">
                  <c:v>0.98019867330675525</c:v>
                </c:pt>
                <c:pt idx="43">
                  <c:v>0.95599748183309996</c:v>
                </c:pt>
                <c:pt idx="44">
                  <c:v>0.92311634638663576</c:v>
                </c:pt>
                <c:pt idx="45">
                  <c:v>0.88249690258459546</c:v>
                </c:pt>
                <c:pt idx="46">
                  <c:v>0.835270211411272</c:v>
                </c:pt>
                <c:pt idx="47">
                  <c:v>0.78270453824186825</c:v>
                </c:pt>
                <c:pt idx="48">
                  <c:v>0.72614903707369094</c:v>
                </c:pt>
                <c:pt idx="49">
                  <c:v>0.66697681085847438</c:v>
                </c:pt>
                <c:pt idx="50">
                  <c:v>0.60653065971263342</c:v>
                </c:pt>
                <c:pt idx="51">
                  <c:v>0.5460744266397094</c:v>
                </c:pt>
                <c:pt idx="52">
                  <c:v>0.48675225595997168</c:v>
                </c:pt>
                <c:pt idx="53">
                  <c:v>0.42955735821073909</c:v>
                </c:pt>
                <c:pt idx="54">
                  <c:v>0.37531109885139957</c:v>
                </c:pt>
                <c:pt idx="55">
                  <c:v>0.32465246735834974</c:v>
                </c:pt>
                <c:pt idx="56">
                  <c:v>0.27803730045319408</c:v>
                </c:pt>
                <c:pt idx="57">
                  <c:v>0.23574607655586358</c:v>
                </c:pt>
                <c:pt idx="58">
                  <c:v>0.19789869908361465</c:v>
                </c:pt>
                <c:pt idx="59">
                  <c:v>0.1644744565771549</c:v>
                </c:pt>
                <c:pt idx="60">
                  <c:v>0.1353352832366127</c:v>
                </c:pt>
                <c:pt idx="61">
                  <c:v>0.11025052530448522</c:v>
                </c:pt>
                <c:pt idx="62">
                  <c:v>8.8921617459386301E-2</c:v>
                </c:pt>
                <c:pt idx="63">
                  <c:v>7.1005353739637012E-2</c:v>
                </c:pt>
                <c:pt idx="64">
                  <c:v>5.6134762834133725E-2</c:v>
                </c:pt>
                <c:pt idx="65">
                  <c:v>4.393693362340742E-2</c:v>
                </c:pt>
                <c:pt idx="66">
                  <c:v>3.4047454734599331E-2</c:v>
                </c:pt>
                <c:pt idx="67">
                  <c:v>2.6121409853918223E-2</c:v>
                </c:pt>
                <c:pt idx="68">
                  <c:v>1.9841094744370298E-2</c:v>
                </c:pt>
                <c:pt idx="69">
                  <c:v>1.4920786069067842E-2</c:v>
                </c:pt>
                <c:pt idx="70">
                  <c:v>1.1108996538242306E-2</c:v>
                </c:pt>
                <c:pt idx="71">
                  <c:v>8.1887010143740745E-3</c:v>
                </c:pt>
                <c:pt idx="72">
                  <c:v>5.9760228950059375E-3</c:v>
                </c:pt>
                <c:pt idx="73">
                  <c:v>4.3178400076330815E-3</c:v>
                </c:pt>
                <c:pt idx="74">
                  <c:v>3.0887154082367718E-3</c:v>
                </c:pt>
                <c:pt idx="75">
                  <c:v>2.1874911181828851E-3</c:v>
                </c:pt>
                <c:pt idx="76">
                  <c:v>1.533810679324463E-3</c:v>
                </c:pt>
                <c:pt idx="77">
                  <c:v>1.0647662366679196E-3</c:v>
                </c:pt>
                <c:pt idx="78">
                  <c:v>7.3180241888047277E-4</c:v>
                </c:pt>
                <c:pt idx="79">
                  <c:v>4.9795542150327392E-4</c:v>
                </c:pt>
                <c:pt idx="80">
                  <c:v>3.3546262790251185E-4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64A-433C-AF43-DD0BFEBACA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(bits)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Fair coin</c:v>
                </c:pt>
                <c:pt idx="1">
                  <c:v>70/30 coin</c:v>
                </c:pt>
                <c:pt idx="2">
                  <c:v>Certain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8-403A-9343-AB93D70C8F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79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26720"/>
            <a:ext cx="10728960" cy="975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67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2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7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827520" cy="2072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67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67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45280"/>
            <a:ext cx="6827520" cy="121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708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ic_d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3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Statistics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 — </a:t>
            </a: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Information Theory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 · conditional probability · Bayes · distributions · entropy · KL &amp; mutual information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U6  ·  Built from Module 1.4 + 2.2  ·  Day 3 portion (finishing U6)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d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describing data to reasoning under uncertainty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 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summarised data we already have. Part 2 is about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likely things are, how to update beliefs with evidence, and how to measure information.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d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 &amp; sample space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&amp; Bayes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beliefs with evidence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ar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· Poisson · Bernoulli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wa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uncertainty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h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&amp; MI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distributions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cares: models output probabilities, learn by minimising cross-entropy, and pick features by mutual information.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92" name="Worked Example 2"/>
          <p:cNvSpPr/>
          <p:nvPr/>
        </p:nvSpPr>
        <p:spPr>
          <a:xfrm>
            <a:off x="548640" y="5760000"/>
            <a:ext cx="110916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a spam filter uses all five ideas: P(spam) is probability, P(spam | “free”) is Bayes, word counts are Poisson, and cross-entropy scores its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d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UNDER UNCERTAINTY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Bayes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chance, how to combine events, and how to update what you believe when new evidence arrives.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2 ·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d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CHANCE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theory &amp; axioms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  S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set of all possible outcomes (e.g. {H, T})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subset of outcomes you care about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P(A)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number in [0, 1] — how likely event A 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axioms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" y="426110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≤ P(A) ≤ 1   ·   P(S) = 1   ·   P(A∪B) = P(A)+P(B) if disjoint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1691640"/>
            <a:ext cx="5513832" cy="1417320"/>
          </a:xfrm>
          <a:prstGeom prst="roundRect">
            <a:avLst>
              <a:gd name="adj" fmla="val 5806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1783080"/>
            <a:ext cx="5239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 = favourable / total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63640" y="2670048"/>
            <a:ext cx="523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equally-likely outcomes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3246120"/>
            <a:ext cx="5513832" cy="1600200"/>
          </a:xfrm>
          <a:prstGeom prst="roundRect">
            <a:avLst>
              <a:gd name="adj" fmla="val 3429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72784" y="3392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9088" y="3392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6565392" y="3392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33192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probability.py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27648" y="3630168"/>
            <a:ext cx="51114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rolls = np.random.randint(1, 7, 10000)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p_even = (rolls % 2 == 0).mean()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≈ 0.5  (simulating P(even))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3 problems on simple, conditional &amp; independent events.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4" name="Worked Example 4"/>
          <p:cNvSpPr/>
          <p:nvPr/>
        </p:nvSpPr>
        <p:spPr>
          <a:xfrm>
            <a:off x="548640" y="5800000"/>
            <a:ext cx="110916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roll one die: S = {1,…,6}, event A = “even” = {2, 4, 6}, so P(A) = 3/6 = 0.5 — exactly what the simulation above converges 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EVENTS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probability &amp; independence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37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= P(A∩B) / P(B)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A, given that B happened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0815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narrows the world to cases where B is true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64845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538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P(A|B) = P(A) — B tells you nothing about 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2153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1056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probability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P(A) = Σ P(A|Bᵢ)·P(Bᵢ) over all cases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3640" y="1645920"/>
            <a:ext cx="5376672" cy="3017520"/>
          </a:xfrm>
          <a:prstGeom prst="roundRect">
            <a:avLst>
              <a:gd name="adj" fmla="val 2424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1783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= the overlap, rescaled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949440" y="2286000"/>
            <a:ext cx="2194560" cy="2011680"/>
          </a:xfrm>
          <a:prstGeom prst="ellipse">
            <a:avLst/>
          </a:prstGeom>
          <a:solidFill>
            <a:srgbClr val="2D6A9F">
              <a:alpha val="45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2286000"/>
            <a:ext cx="2194560" cy="2011680"/>
          </a:xfrm>
          <a:prstGeom prst="ellipse">
            <a:avLst/>
          </a:prstGeom>
          <a:solidFill>
            <a:srgbClr val="F4B942">
              <a:alpha val="55000"/>
            </a:srgbClr>
          </a:solidFill>
          <a:ln w="19050">
            <a:solidFill>
              <a:srgbClr val="C994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212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5820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A∩B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conditional probabilities and test whether two events are independent.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is a strong, useful assumption — the 'naïve' in Naïve Bayes.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95" name="Worked Example 5"/>
          <p:cNvSpPr/>
          <p:nvPr/>
        </p:nvSpPr>
        <p:spPr>
          <a:xfrm>
            <a:off x="548640" y="4700000"/>
            <a:ext cx="54864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of 100 emails, 40 contain “free” and 30 of those are spam: P(spam | free) = 30/40 = 0.75.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cal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BELIEFS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Bayes' theorem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373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 =  P(B | A) · P(A)  /  P(B)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441448"/>
            <a:ext cx="10817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belief in A after observing evidence 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3154680"/>
            <a:ext cx="91440" cy="14173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P(A|B)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after evidence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46704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3346704" y="3154680"/>
            <a:ext cx="91440" cy="14173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6" name="Text 13"/>
          <p:cNvSpPr/>
          <p:nvPr/>
        </p:nvSpPr>
        <p:spPr>
          <a:xfrm>
            <a:off x="3575304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AF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P(B|A)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575304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75304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given the cause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44768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6144768" y="3154680"/>
            <a:ext cx="91440" cy="14173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6373368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6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73368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73368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before evidence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42832" y="31546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25" name="Shape 22"/>
          <p:cNvSpPr/>
          <p:nvPr/>
        </p:nvSpPr>
        <p:spPr>
          <a:xfrm>
            <a:off x="8942832" y="3154680"/>
            <a:ext cx="91440" cy="1417320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26" name="Text 23"/>
          <p:cNvSpPr/>
          <p:nvPr/>
        </p:nvSpPr>
        <p:spPr>
          <a:xfrm>
            <a:off x="9171432" y="3300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71432" y="3703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171432" y="403250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chance of 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turns 'how likely is the evidence?' into 'how likely is the cause, given the evidence?'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3035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8"/>
          <p:cNvSpPr/>
          <p:nvPr/>
        </p:nvSpPr>
        <p:spPr>
          <a:xfrm>
            <a:off x="694944" y="5422392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04688"/>
            <a:ext cx="164592" cy="16459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115568" y="53035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real-world Bayes scenario with a calculator.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6" name="Worked Example 6"/>
          <p:cNvSpPr/>
          <p:nvPr/>
        </p:nvSpPr>
        <p:spPr>
          <a:xfrm>
            <a:off x="548640" y="5950000"/>
            <a:ext cx="1109167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P(spam) = 0.2, P(“free” | spam) = 0.6, P(“free”) = 0.2 → P(spam | “free”) = 0.6 × 0.2 / 0.2 = 0.6.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me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INTUITION FAILS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Bayes in action: the medical test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affects 1% of people. A test is 99% accurate. You test positive — what's the chance you're actually sick?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15828" y="2514600"/>
            <a:ext cx="3480809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6A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31520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disease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of 10,000 people</a:t>
            </a:r>
            <a:endParaRPr lang="en-US" sz="1000" dirty="0"/>
          </a:p>
        </p:txBody>
      </p:sp>
      <p:pic>
        <p:nvPicPr>
          <p:cNvPr id="12" name="Image 1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3099816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46704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4" name="Text 10"/>
          <p:cNvSpPr/>
          <p:nvPr/>
        </p:nvSpPr>
        <p:spPr>
          <a:xfrm>
            <a:off x="3529584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AAF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29584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529584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the 100 sick people</a:t>
            </a:r>
            <a:endParaRPr lang="en-US" sz="1000" dirty="0"/>
          </a:p>
        </p:txBody>
      </p:sp>
      <p:pic>
        <p:nvPicPr>
          <p:cNvPr id="17" name="Image 2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099816"/>
            <a:ext cx="16459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44768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9" name="Text 14"/>
          <p:cNvSpPr/>
          <p:nvPr/>
        </p:nvSpPr>
        <p:spPr>
          <a:xfrm>
            <a:off x="6327648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A6B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~99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327648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27648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9,900 healthy people</a:t>
            </a:r>
            <a:endParaRPr lang="en-US" sz="1000" dirty="0"/>
          </a:p>
        </p:txBody>
      </p:sp>
      <p:pic>
        <p:nvPicPr>
          <p:cNvPr id="22" name="Image 3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3099816"/>
            <a:ext cx="164592" cy="16459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942832" y="25146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125712" y="266090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~50%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9125712" y="31729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sick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25712" y="3465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/ (99 + 99) ≈ 50%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41605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BF1D8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41605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surprise:  </a:t>
            </a: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99%-accurate test gives only ~50% certainty — because the disease is rare. Base rates matter enormously.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0" name="Shape 2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1" name="Image 4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spam-classifier version of this Bayes calculation.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97" name="Worked Example 7"/>
          <p:cNvSpPr/>
          <p:nvPr/>
        </p:nvSpPr>
        <p:spPr>
          <a:xfrm>
            <a:off x="548640" y="5800000"/>
            <a:ext cx="110916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if the disease affected 10% of people instead (1,000 tested): 99 true vs 9 false positives → 99/108 ≈ 92%. The higher the base rate, the more a positive means.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26720"/>
            <a:ext cx="10728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Setting up Bayes’ theorem</a:t>
            </a:r>
          </a:p>
        </p:txBody>
      </p:sp>
      <p:sp>
        <p:nvSpPr>
          <p:cNvPr id="3" name="Given card"/>
          <p:cNvSpPr/>
          <p:nvPr/>
        </p:nvSpPr>
        <p:spPr>
          <a:xfrm>
            <a:off x="731520" y="1706880"/>
            <a:ext cx="4632960" cy="4145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320" y="188976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accent1"/>
                </a:solidFill>
              </a:rPr>
              <a:t>Given</a:t>
            </a:r>
            <a:endParaRPr lang="en-US" sz="2667" dirty="0"/>
          </a:p>
        </p:txBody>
      </p:sp>
      <p:sp>
        <p:nvSpPr>
          <p:cNvPr id="5" name="Text 3"/>
          <p:cNvSpPr txBox="1"/>
          <p:nvPr/>
        </p:nvSpPr>
        <p:spPr>
          <a:xfrm>
            <a:off x="1036320" y="2499360"/>
            <a:ext cx="40233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33"/>
              </a:spcAft>
            </a:pPr>
            <a:r>
              <a:rPr lang="en-US" sz="2133" dirty="0"/>
              <a:t>Prevalence:  P(D) = 0.01</a:t>
            </a:r>
          </a:p>
          <a:p>
            <a:pPr>
              <a:spcAft>
                <a:spcPts val="1333"/>
              </a:spcAft>
            </a:pPr>
            <a:r>
              <a:rPr lang="en-US" sz="2133" dirty="0"/>
              <a:t>Sensitivity:  P(+ | D) = 0.99</a:t>
            </a:r>
          </a:p>
          <a:p>
            <a:pPr>
              <a:spcAft>
                <a:spcPts val="1333"/>
              </a:spcAft>
            </a:pPr>
            <a:r>
              <a:rPr lang="en-US" sz="2133" dirty="0"/>
              <a:t>Specificity = 0.99, so false-positive rate P(+ | ¬D) = 0.01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036320" y="4876800"/>
            <a:ext cx="40233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i="1" dirty="0">
                <a:solidFill>
                  <a:schemeClr val="accent5"/>
                </a:solidFill>
              </a:rPr>
              <a:t>“99% accurate” is assumed to mean both sensitivity and specificity.</a:t>
            </a:r>
            <a:endParaRPr lang="en-US" sz="1867" dirty="0"/>
          </a:p>
        </p:txBody>
      </p:sp>
      <p:sp>
        <p:nvSpPr>
          <p:cNvPr id="7" name="Formula card"/>
          <p:cNvSpPr/>
          <p:nvPr/>
        </p:nvSpPr>
        <p:spPr>
          <a:xfrm>
            <a:off x="5730240" y="1706880"/>
            <a:ext cx="5730240" cy="41452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8897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chemeClr val="accent1"/>
                </a:solidFill>
              </a:rPr>
              <a:t>Bayes’ theorem</a:t>
            </a:r>
            <a:endParaRPr lang="en-US" sz="2667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933" b="1" dirty="0">
                <a:solidFill>
                  <a:schemeClr val="tx2"/>
                </a:solidFill>
              </a:rPr>
              <a:t>P(D | +)  =</a:t>
            </a:r>
            <a:endParaRPr lang="en-US" sz="2933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23088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33" dirty="0"/>
              <a:t>P(+|D) × P(D)</a:t>
            </a:r>
          </a:p>
        </p:txBody>
      </p:sp>
      <p:sp>
        <p:nvSpPr>
          <p:cNvPr id="11" name="Shape 9"/>
          <p:cNvSpPr/>
          <p:nvPr/>
        </p:nvSpPr>
        <p:spPr>
          <a:xfrm>
            <a:off x="6035040" y="3840480"/>
            <a:ext cx="5120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96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33" dirty="0"/>
              <a:t>P(+|D) × P(D) + P(+|¬D) × P(¬D)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035040" y="4998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chemeClr val="accent5"/>
                </a:solidFill>
              </a:rPr>
              <a:t>D = has the disease · + = positive test · ¬D = healthy</a:t>
            </a:r>
            <a:endParaRPr lang="en-US" sz="18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rgbClr val="7A8B9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26720"/>
            <a:ext cx="10728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Plugging in the numbers</a:t>
            </a:r>
          </a:p>
        </p:txBody>
      </p:sp>
      <p:sp>
        <p:nvSpPr>
          <p:cNvPr id="3" name="Step 1"/>
          <p:cNvSpPr/>
          <p:nvPr/>
        </p:nvSpPr>
        <p:spPr>
          <a:xfrm>
            <a:off x="731520" y="1706880"/>
            <a:ext cx="6705600" cy="115824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320" y="1828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chemeClr val="accent5"/>
                </a:solidFill>
              </a:rPr>
              <a:t>Top: true positives</a:t>
            </a:r>
            <a:endParaRPr lang="en-US" sz="1867" dirty="0"/>
          </a:p>
        </p:txBody>
      </p:sp>
      <p:sp>
        <p:nvSpPr>
          <p:cNvPr id="5" name="Text 3"/>
          <p:cNvSpPr txBox="1"/>
          <p:nvPr/>
        </p:nvSpPr>
        <p:spPr>
          <a:xfrm>
            <a:off x="1036320" y="2218944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933" b="1" dirty="0">
                <a:solidFill>
                  <a:schemeClr val="tx2"/>
                </a:solidFill>
              </a:rPr>
              <a:t>0.99 × 0.01 = 0.0099</a:t>
            </a:r>
            <a:endParaRPr lang="en-US" sz="2933" dirty="0"/>
          </a:p>
        </p:txBody>
      </p:sp>
      <p:sp>
        <p:nvSpPr>
          <p:cNvPr id="6" name="Step 2"/>
          <p:cNvSpPr/>
          <p:nvPr/>
        </p:nvSpPr>
        <p:spPr>
          <a:xfrm>
            <a:off x="731520" y="3108960"/>
            <a:ext cx="6705600" cy="115824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6320" y="32308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chemeClr val="accent5"/>
                </a:solidFill>
              </a:rPr>
              <a:t>Bottom: all positives</a:t>
            </a:r>
            <a:endParaRPr lang="en-US" sz="1867" dirty="0"/>
          </a:p>
        </p:txBody>
      </p:sp>
      <p:sp>
        <p:nvSpPr>
          <p:cNvPr id="8" name="Text 6"/>
          <p:cNvSpPr txBox="1"/>
          <p:nvPr/>
        </p:nvSpPr>
        <p:spPr>
          <a:xfrm>
            <a:off x="1036320" y="3621024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933" b="1" dirty="0">
                <a:solidFill>
                  <a:schemeClr val="tx2"/>
                </a:solidFill>
              </a:rPr>
              <a:t>0.0099 + (0.01 × 0.99) = 0.0198</a:t>
            </a:r>
            <a:endParaRPr lang="en-US" sz="2933" dirty="0"/>
          </a:p>
        </p:txBody>
      </p:sp>
      <p:sp>
        <p:nvSpPr>
          <p:cNvPr id="9" name="Step 3"/>
          <p:cNvSpPr/>
          <p:nvPr/>
        </p:nvSpPr>
        <p:spPr>
          <a:xfrm>
            <a:off x="731520" y="4511040"/>
            <a:ext cx="6705600" cy="115824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6320" y="463296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chemeClr val="accent5"/>
                </a:solidFill>
              </a:rPr>
              <a:t>Result</a:t>
            </a:r>
            <a:endParaRPr lang="en-US" sz="1867" dirty="0"/>
          </a:p>
        </p:txBody>
      </p:sp>
      <p:sp>
        <p:nvSpPr>
          <p:cNvPr id="11" name="Text 9"/>
          <p:cNvSpPr txBox="1"/>
          <p:nvPr/>
        </p:nvSpPr>
        <p:spPr>
          <a:xfrm>
            <a:off x="1036320" y="5023104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933" b="1" dirty="0">
                <a:solidFill>
                  <a:schemeClr val="accent2"/>
                </a:solidFill>
              </a:rPr>
              <a:t>0.0099 / 0.0198 = 0.50</a:t>
            </a:r>
            <a:endParaRPr lang="en-US" sz="2933" dirty="0"/>
          </a:p>
        </p:txBody>
      </p:sp>
      <p:sp>
        <p:nvSpPr>
          <p:cNvPr id="12" name="Result 50"/>
          <p:cNvSpPr txBox="1"/>
          <p:nvPr/>
        </p:nvSpPr>
        <p:spPr>
          <a:xfrm>
            <a:off x="8046720" y="1950720"/>
            <a:ext cx="3413760" cy="3413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50%</a:t>
            </a:r>
            <a:endParaRPr lang="en-US" sz="8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548640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133" b="1" dirty="0">
                <a:solidFill>
                  <a:schemeClr val="tx2"/>
                </a:solidFill>
              </a:rPr>
              <a:t>P(D | +)</a:t>
            </a:r>
            <a:endParaRPr lang="en-US" sz="2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rgbClr val="7A8B9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426720"/>
            <a:ext cx="107289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Imagine 10,000 people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31520" y="1828800"/>
          <a:ext cx="6827520" cy="1219200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Disease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No disease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0B2E3B"/>
                          </a:solidFill>
                        </a:rPr>
                        <a:t>Positive test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99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99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198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0B2E3B"/>
                          </a:solidFill>
                        </a:rPr>
                        <a:t>Negative test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1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9,801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9,802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0B2E3B"/>
                          </a:solidFill>
                        </a:rPr>
                        <a:t>Total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100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9,900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B2A33"/>
                          </a:solidFill>
                        </a:rPr>
                        <a:t>10,000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828800"/>
            <a:ext cx="341376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/>
              <a:t>Of the 198 people who test positive, only 99 are truly sick.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8046720" y="3779520"/>
            <a:ext cx="341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467" b="1" dirty="0">
                <a:solidFill>
                  <a:schemeClr val="accent2"/>
                </a:solidFill>
              </a:rPr>
              <a:t>99 / 198 = 50%</a:t>
            </a:r>
            <a:endParaRPr lang="en-US" sz="3467" dirty="0"/>
          </a:p>
        </p:txBody>
      </p:sp>
      <p:sp>
        <p:nvSpPr>
          <p:cNvPr id="3" name="Text 3"/>
          <p:cNvSpPr txBox="1"/>
          <p:nvPr/>
        </p:nvSpPr>
        <p:spPr>
          <a:xfrm>
            <a:off x="731520" y="530352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chemeClr val="accent5"/>
                </a:solidFill>
              </a:rPr>
              <a:t>Sick people with a positive result (99) are matched by healthy people with one (99).</a:t>
            </a:r>
            <a:endParaRPr lang="en-US" sz="18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rgbClr val="7A8B9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827520" cy="2072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dirty="0"/>
              <a:t>Key lesson</a:t>
            </a: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45280"/>
            <a:ext cx="682752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99% accurate does not mean a 99% chance you are sick.</a:t>
            </a:r>
          </a:p>
        </p:txBody>
      </p:sp>
      <p:sp>
        <p:nvSpPr>
          <p:cNvPr id="4" name="Base rate card"/>
          <p:cNvSpPr/>
          <p:nvPr/>
        </p:nvSpPr>
        <p:spPr>
          <a:xfrm>
            <a:off x="7924800" y="1097280"/>
            <a:ext cx="3657600" cy="23164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68640" y="128016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chemeClr val="accent1"/>
                </a:solidFill>
              </a:rPr>
              <a:t>Prevalence matters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68640" y="182880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The disease is rare, so many healthy people produce as many false alarms as true cases.</a:t>
            </a:r>
          </a:p>
        </p:txBody>
      </p:sp>
      <p:sp>
        <p:nvSpPr>
          <p:cNvPr id="7" name="Higher base rate card"/>
          <p:cNvSpPr/>
          <p:nvPr/>
        </p:nvSpPr>
        <p:spPr>
          <a:xfrm>
            <a:off x="7924800" y="3718560"/>
            <a:ext cx="3657600" cy="23164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68640" y="390144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chemeClr val="accent1"/>
                </a:solidFill>
              </a:rPr>
              <a:t>Higher rate, more trust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168640" y="445008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If 10% had the disease, a positive result would mean about 92% (99 true vs 9 false positives).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are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&amp; INFORMATION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Distributions &amp; information theory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randomness is shaped, and how we measure information, surprise and the distance between distributions.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2 · 02 / 06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are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SHAPES OF RANDOMNESS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distributions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single yes/no trial — 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1947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coin flip, click / no-click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24871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3774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counts of events in an interval — λ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27249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hour, typos per page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32644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1546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(Normal)  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bell curve — μ, σ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" y="35021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heights, measurement error, noise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55080" y="15727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Gaussian — the most important curve in ML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217920" y="1920240"/>
          <a:ext cx="54406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plot Bernoulli, Poisson and Gaussian; observe how parameters change them.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Gaussian appears everywhere thanks to the Central Limit Theorem — sums of many effects look normal.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99" name="Worked Example 9"/>
          <p:cNvSpPr/>
          <p:nvPr/>
        </p:nvSpPr>
        <p:spPr>
          <a:xfrm>
            <a:off x="841248" y="4050000"/>
            <a:ext cx="50292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heights ~ Gaussian with μ = 170 cm, σ = 10: about 68% of people fall within 160–180 cm and 95% within 150–190 cm (the 68–95–99.7 rule).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Bernoulli Distribution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A7F9E"/>
                </a:solidFill>
              </a:rPr>
              <a:t>Used when there are only two possible outcomes</a:t>
            </a:r>
            <a:endParaRPr lang="en-US" sz="2133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950720"/>
            <a:ext cx="6339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1, Failure = 0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toss a coin once — Head → 1, Tail → 0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Pass/Fail, Yes/No, Disease/No disease, Defective/Non-defective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7315200" y="2072640"/>
            <a:ext cx="4267200" cy="243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2072640"/>
            <a:ext cx="390144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F2A44"/>
                </a:solidFill>
              </a:rPr>
              <a:t>P(X=1) = 0.5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P(X=0) = 0.5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(fair coin)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Poisson Distribution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A7F9E"/>
                </a:solidFill>
              </a:rPr>
              <a:t>Counts how many times an event occurs in a fixed interval of time or space</a:t>
            </a:r>
            <a:endParaRPr lang="en-US" sz="2133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950720"/>
            <a:ext cx="6339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hospital gets 3 emergency patients per hour on average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P(exactly 5 patients in one hour)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average number of events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calls per hour, accidents per day, customers per minute, defects in a product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7315200" y="2072640"/>
            <a:ext cx="4267200" cy="243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2072640"/>
            <a:ext cx="390144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F2A44"/>
                </a:solidFill>
              </a:rPr>
              <a:t>λ = 3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Gaussian (Normal) Distribution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A7F9E"/>
                </a:solidFill>
              </a:rPr>
              <a:t>Continuous data that clusters around an average — the bell curve</a:t>
            </a:r>
            <a:endParaRPr lang="en-US" sz="2133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1950720"/>
            <a:ext cx="633984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heights of students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165 cm, Standard deviation = 5 cm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heights are close to 165 cm; very short or very tall are rare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height &amp; weight, exam marks, measurement errors, blood pressure, IQ scores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7315200" y="2072640"/>
            <a:ext cx="4267200" cy="243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2072640"/>
            <a:ext cx="390144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F2A44"/>
                </a:solidFill>
              </a:rPr>
              <a:t>μ = 165 cm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σ = 5 cm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3467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9600" y="1706880"/>
          <a:ext cx="10972800" cy="3413760"/>
        </p:xfrm>
        <a:graphic>
          <a:graphicData uri="http://schemas.openxmlformats.org/drawingml/2006/table">
            <a:tbl>
              <a:tblPr/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</a:rPr>
                        <a:t>Distribution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Bernoulli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One trial, 2 outcomes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Coin toss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Poisson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Count of events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5 calls/hour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Gaussian / Normal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Continuous measurements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</a:rPr>
                        <a:t>Student height</a:t>
                      </a:r>
                      <a:endParaRPr lang="en-US" sz="24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UNCERTAINTY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Entropy &amp; information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37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H(X) = − Σ p(x) · log p(x)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'surprise' — higher = more uncertain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0815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H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unpredictable a distribution 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5387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29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skewed / certain (a biased coin)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995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uniform / uncertain (a fair die)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44531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4343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loss most classifiers minimise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15727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coin is more uncertain than a biased one</a:t>
            </a:r>
            <a:endParaRPr lang="en-US" sz="12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217920" y="1920240"/>
          <a:ext cx="5440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1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entropy of 3 datasets and interpret their information content.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00" name="Worked Example 10"/>
          <p:cNvSpPr/>
          <p:nvPr/>
        </p:nvSpPr>
        <p:spPr>
          <a:xfrm>
            <a:off x="548640" y="5800000"/>
            <a:ext cx="110916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fair coin: H = 1 bit; 70/30 coin: H = −(0.7·log₂0.7 + 0.3·log₂0.3) ≈ 0.88 bits; fair die: H = log₂6 ≈ 2.58 bits — more outcomes, more uncertainty.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Uncertainty?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63040"/>
            <a:ext cx="633984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means we are not completely sure about the outcome of an event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helps us measure how uncertain an event 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584960"/>
            <a:ext cx="426720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584960"/>
            <a:ext cx="3901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F2A44"/>
                </a:solidFill>
              </a:rPr>
              <a:t>P(Rain tomorrow) = 70%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Still uncertain whether it will actually rain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Ways to Measure Uncertainty</a:t>
            </a:r>
            <a:endParaRPr lang="en-US" sz="3467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09600" y="1584960"/>
          <a:ext cx="10972800" cy="379577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Probability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Likelihood of an event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P(Rain) = 0.7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Variance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How much values vary from the mean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High variance → more spread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Standard Deviation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Typical distance from the mean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SD = 5 marks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Entropy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Amount of uncertainty / randomness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dirty="0">
                          <a:solidFill>
                            <a:srgbClr val="2B2B2B"/>
                          </a:solidFill>
                        </a:rPr>
                        <a:t>Used heavily in ML</a:t>
                      </a:r>
                      <a:endParaRPr lang="en-US" sz="21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Important in Data Science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A7F9E"/>
                </a:solidFill>
              </a:rPr>
              <a:t>Entropy measures the uncertainty in a probability distribution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53440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2194560"/>
            <a:ext cx="8168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1F2A44"/>
                </a:solidFill>
              </a:rPr>
              <a:t>H(X) = −Σ p(x) log₂ p(x)</a:t>
            </a:r>
            <a:endParaRPr lang="en-US" sz="3733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402336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all possible outcomes x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 means more uncertainty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Coin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609600" y="1584960"/>
            <a:ext cx="5364480" cy="426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2480" y="1584960"/>
            <a:ext cx="499872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F2A44"/>
                </a:solidFill>
              </a:rPr>
              <a:t>Fair coin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Head = 0.5, Tail = 0.5</a:t>
            </a:r>
            <a:endParaRPr lang="en-US" sz="2133" dirty="0"/>
          </a:p>
          <a:p>
            <a:pPr algn="ctr"/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H = −[0.5 log₂0.5 + 0.5 log₂0.5] = 1</a:t>
            </a:r>
            <a:endParaRPr lang="en-US" sz="2133" dirty="0"/>
          </a:p>
          <a:p>
            <a:pPr algn="ctr"/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Maximum uncertainty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6217920" y="1584960"/>
            <a:ext cx="5364480" cy="426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84960"/>
            <a:ext cx="499872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F2A44"/>
                </a:solidFill>
              </a:rPr>
              <a:t>Certain outcome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Head = 1, Tail = 0</a:t>
            </a:r>
            <a:endParaRPr lang="en-US" sz="2133" dirty="0"/>
          </a:p>
          <a:p>
            <a:pPr algn="ctr"/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H = 0</a:t>
            </a:r>
            <a:endParaRPr lang="en-US" sz="2133" dirty="0"/>
          </a:p>
          <a:p>
            <a:pPr algn="ctr"/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No uncertainty</a:t>
            </a:r>
            <a:endParaRPr lang="en-US" sz="213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A7F9E"/>
                </a:solidFill>
              </a:rPr>
              <a:t>Entropy = How uncertain are we?</a:t>
            </a:r>
            <a:endParaRPr lang="en-US" sz="2133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072640"/>
            <a:ext cx="1097280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= 0 → no uncertainty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→ high uncertainty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entropy → outcomes are equally likely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Decision Trees, entropy is used to decide which feature gives the best split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DISTRIBUTIONS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 divergence &amp; mutual information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938528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neq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47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 divergence  D(P‖Q)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08760" y="21945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one distribution is from another — the 'extra surprise' of using Q to model P. Not symmetric.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23697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749808" y="3511296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ha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667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198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information  I(X;Y)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376732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knowing X reduces uncertainty about Y — used to rank feature importance.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63640" y="1664208"/>
            <a:ext cx="5376672" cy="2990088"/>
          </a:xfrm>
          <a:prstGeom prst="roundRect">
            <a:avLst>
              <a:gd name="adj" fmla="val 1835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994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3"/>
          <p:cNvSpPr/>
          <p:nvPr/>
        </p:nvSpPr>
        <p:spPr>
          <a:xfrm>
            <a:off x="655624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70255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5"/>
          <p:cNvSpPr/>
          <p:nvPr/>
        </p:nvSpPr>
        <p:spPr>
          <a:xfrm>
            <a:off x="6903720" y="173736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info_theory.py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64808" y="2048256"/>
            <a:ext cx="497433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entropy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np.array([0.5, 0.5])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np.array([0.9, 0.1])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entropy(p)        # H(P) in nats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entropy(p, q)     # KL divergence D(P||Q)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\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import mutual_info_classif  # feature MI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3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KL + mutual information; interpret which features carry the most info.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01" name="Worked Example 11"/>
          <p:cNvSpPr/>
          <p:nvPr/>
        </p:nvSpPr>
        <p:spPr>
          <a:xfrm>
            <a:off x="548640" y="5800000"/>
            <a:ext cx="1109167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 = [0.5, 0.5], Q = [0.9, 0.1]: D(P‖Q) = 0.5·ln(0.5/0.9) + 0.5·ln(0.5/0.1) ≈ 0.51 nats — using Q to model P costs extra surprise.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Two Questions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5849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measure information and uncertainty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answer different questions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KL Divergence — how different is distribution P from distribution Q?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 Divergence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A7F9E"/>
                </a:solidFill>
              </a:rPr>
              <a:t>Kullback–Leibler divergence: how different is P from Q?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975360" y="2194560"/>
            <a:ext cx="1024128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8240" y="21945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1F2A44"/>
                </a:solidFill>
              </a:rPr>
              <a:t>D_KL(P || Q) = Σ P(x) log [ P(x) / Q(x) ]</a:t>
            </a:r>
            <a:endParaRPr lang="en-US" sz="3467" dirty="0"/>
          </a:p>
        </p:txBody>
      </p:sp>
      <p:sp>
        <p:nvSpPr>
          <p:cNvPr id="7" name="Text 5"/>
          <p:cNvSpPr txBox="1"/>
          <p:nvPr/>
        </p:nvSpPr>
        <p:spPr>
          <a:xfrm>
            <a:off x="975360" y="402336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actual distribution, Q = model's predicted distribution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all outcomes x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Coin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609600" y="1584960"/>
            <a:ext cx="3413760" cy="243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2480" y="1584960"/>
            <a:ext cx="30480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F2A44"/>
                </a:solidFill>
              </a:rPr>
              <a:t>Actual (P)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Head = 0.7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Tail = 0.3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0" y="1584960"/>
            <a:ext cx="3413760" cy="243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584960"/>
            <a:ext cx="30480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F2A44"/>
                </a:solidFill>
              </a:rPr>
              <a:t>Model (Q)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Head = 0.5</a:t>
            </a:r>
            <a:endParaRPr lang="en-US" sz="2400" dirty="0"/>
          </a:p>
          <a:p>
            <a:pPr algn="ctr"/>
            <a:r>
              <a:rPr lang="en-US" sz="2400" b="1" dirty="0">
                <a:solidFill>
                  <a:srgbClr val="1F2A44"/>
                </a:solidFill>
              </a:rPr>
              <a:t>Tail = 0.5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168640" y="1584960"/>
            <a:ext cx="3413760" cy="243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51520" y="1584960"/>
            <a:ext cx="30480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F2A44"/>
                </a:solidFill>
              </a:rPr>
              <a:t>D_KL(P||Q) ≈ 0.119 bits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1F2A44"/>
                </a:solidFill>
              </a:rPr>
              <a:t>D_KL(Q||P) ≈ 0.126 bits</a:t>
            </a:r>
            <a:endParaRPr lang="en-US" sz="2133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389120"/>
            <a:ext cx="1097280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tells us how much the model's predicted distribution differs from the actual one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directions give different values — KL is not symmetric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Properties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5849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D_KL = 0 → distributions are identical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KL divergence → distributions are more different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symmetric: D_KL(P||Q) ≠ D_KL(Q||P)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3467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5849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estimation</a:t>
            </a:r>
            <a:endParaRPr lang="en-US" sz="24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axioms bound chance to [0,1]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narrows the world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updates beliefs with evidence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/ Poisson / Bernoulli recur in ML</a:t>
            </a:r>
            <a:endParaRPr lang="en-US" sz="1250" dirty="0"/>
          </a:p>
          <a:p>
            <a:pPr marL="342900" indent="-3429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KL &amp; MI measure information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2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3 conditional / independent-event problems</a:t>
            </a:r>
            <a:endParaRPr lang="en-US" sz="120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 Bayes scenario (medical / spam)</a:t>
            </a:r>
            <a:endParaRPr lang="en-US" sz="120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plot 3 distributions</a:t>
            </a:r>
            <a:endParaRPr lang="en-US" sz="120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entropy of 3 datasets</a:t>
            </a:r>
            <a:endParaRPr lang="en-US" sz="1200" dirty="0"/>
          </a:p>
          <a:p>
            <a:pPr marL="342900" indent="-342900" algn="l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KL + MI and rank features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PHASE C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Lifecycle &amp; data sources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C: Data Engineering &amp; Preparation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foundations (Phase B) complete!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1" descr="ic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 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output probabilities, train by minimising cross-entropy, and select features by mutual information — probability is the language of learning.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2)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2620</Words>
  <Application>Microsoft Office PowerPoint</Application>
  <PresentationFormat>Widescreen</PresentationFormat>
  <Paragraphs>373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Setting up Bayes’ theorem</vt:lpstr>
      <vt:lpstr>Plugging in the numbers</vt:lpstr>
      <vt:lpstr>Imagine 10,000 people</vt:lpstr>
      <vt:lpstr>Key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U6 — Probability &amp; Statistics (Part 2)</dc:title>
  <dc:subject>PptxGenJS Presentation</dc:subject>
  <dc:creator>AI/ML Training</dc:creator>
  <cp:lastModifiedBy>kanakamedala vineela</cp:lastModifiedBy>
  <cp:revision>3</cp:revision>
  <dcterms:created xsi:type="dcterms:W3CDTF">2026-06-10T13:32:41Z</dcterms:created>
  <dcterms:modified xsi:type="dcterms:W3CDTF">2026-10-05T07:57:55Z</dcterms:modified>
</cp:coreProperties>
</file>