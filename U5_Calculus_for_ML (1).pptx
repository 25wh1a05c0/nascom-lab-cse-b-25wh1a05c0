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15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262B5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023360" cy="4023360"/>
          </a:xfrm>
          <a:prstGeom prst="ellipse">
            <a:avLst/>
          </a:prstGeom>
          <a:solidFill>
            <a:srgbClr val="262B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AI / ML FOUNDATIONS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Calculus for Machine Learning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model know which way to improve?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239012" y="48920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9012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94660" y="5074920"/>
            <a:ext cx="219456" cy="201168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0" name="Shape 8"/>
          <p:cNvSpPr/>
          <p:nvPr/>
        </p:nvSpPr>
        <p:spPr>
          <a:xfrm>
            <a:off x="3232404" y="48920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2404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8052" y="5074920"/>
            <a:ext cx="219456" cy="201168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5796" y="48920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5796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81444" y="5074920"/>
            <a:ext cx="219456" cy="201168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9188" y="48920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9188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74836" y="5074920"/>
            <a:ext cx="219456" cy="201168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9" name="Shape 17"/>
          <p:cNvSpPr/>
          <p:nvPr/>
        </p:nvSpPr>
        <p:spPr>
          <a:xfrm>
            <a:off x="9212580" y="4892040"/>
            <a:ext cx="1737360" cy="566928"/>
          </a:xfrm>
          <a:prstGeom prst="roundRect">
            <a:avLst>
              <a:gd name="adj" fmla="val 161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2580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Study Calculus in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calc_ml/icons/mount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04277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i="1" dirty="0">
                <a:solidFill>
                  <a:srgbClr val="1B1F3B"/>
                </a:solidFill>
              </a:rPr>
              <a:t>“Imagine you are walking down a mountain, but it is foggy and you cannot see the bottom. How do you decide which direction to walk?”</a:t>
            </a:r>
            <a:endParaRPr lang="en-US" sz="1600" dirty="0"/>
          </a:p>
          <a:p>
            <a:pPr marL="0" indent="0">
              <a:buNone/>
            </a:pPr>
            <a:endParaRPr lang="en-US" sz="1600" i="1" dirty="0">
              <a:solidFill>
                <a:srgbClr val="1B1F3B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rgbClr val="1B1F3B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rgbClr val="1B1F3B"/>
                </a:solidFill>
              </a:rPr>
              <a:t>“Exactly! A machine learning model does the same thing. It has a loss value, and calculus tells it which direction to move to reduce that loss.”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12280" y="169164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0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students the purpose of the whole unit: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0" y="26060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26060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16568" y="3163824"/>
            <a:ext cx="237744" cy="182880"/>
          </a:xfrm>
          <a:prstGeom prst="downArrow">
            <a:avLst/>
          </a:prstGeom>
          <a:solidFill>
            <a:srgbClr val="FF9F1C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0" y="340156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34015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16568" y="3959352"/>
            <a:ext cx="237744" cy="182880"/>
          </a:xfrm>
          <a:prstGeom prst="downArrow">
            <a:avLst/>
          </a:prstGeom>
          <a:solidFill>
            <a:srgbClr val="FF9F1C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0" y="4197096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0" y="419709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16568" y="4754880"/>
            <a:ext cx="237744" cy="182880"/>
          </a:xfrm>
          <a:prstGeom prst="downArrow">
            <a:avLst/>
          </a:prstGeom>
          <a:solidFill>
            <a:srgbClr val="FF9F1C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0" y="4992624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0" y="49926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16568" y="5550408"/>
            <a:ext cx="237744" cy="182880"/>
          </a:xfrm>
          <a:prstGeom prst="downArrow">
            <a:avLst/>
          </a:prstGeom>
          <a:solidFill>
            <a:srgbClr val="FF9F1C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0" y="578815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578815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· DERIVATIVE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Is Something Changing?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real number, not a formula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travels: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743200"/>
          <a:ext cx="4389120" cy="1737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4663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</a:rPr>
              <a:t>Ask: “What is the speed?”  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1737360"/>
            <a:ext cx="5715000" cy="43891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= 10 m/s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263640" y="2606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tells us how quickly distance changes with time.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3291840"/>
            <a:ext cx="5074920" cy="0"/>
          </a:xfrm>
          <a:prstGeom prst="line">
            <a:avLst/>
          </a:prstGeom>
          <a:noFill/>
          <a:ln w="19050">
            <a:solidFill>
              <a:srgbClr val="262B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in general: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640" y="3749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derivative tells us how quickly one quantity changes when another quantity changes.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63640" y="48006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262B52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x²        f'(x) = 2x        f'(3) = 6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x = 3, the function is increasing at a rate of 6.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· DERIVATIVE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Formula to the Model’s Weight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definition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f'(x) = lim (h -&gt; 0)  [ f(x+h) − f(x) ] / 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don't need to fear this formula — it simply calculates the slope at an exact point.”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4754880" cy="0"/>
          </a:xfrm>
          <a:prstGeom prst="line">
            <a:avLst/>
          </a:prstGeom>
          <a:noFill/>
          <a:ln w="19050">
            <a:solidFill>
              <a:srgbClr val="E3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5720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= instantaneous slope, or rate of change, of a function.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0" descr="/home/claude/calc_ml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077" y="2077517"/>
            <a:ext cx="416966" cy="41696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22376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it to Machine Learning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92240" y="27432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262B52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743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= w²        dLoss/dw = 2w        at w = 3 -&gt; 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“What does 6 tell the model?”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43434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is increasing as the weight increases — so the model should move the weight in the opposite direction.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5394960"/>
            <a:ext cx="4937760" cy="548640"/>
          </a:xfrm>
          <a:prstGeom prst="roundRect">
            <a:avLst>
              <a:gd name="adj" fmla="val 50000"/>
            </a:avLst>
          </a:prstGeom>
          <a:solidFill>
            <a:srgbClr val="1B8A80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 →  Weight Adjustment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Positive, Negative, or Zero?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783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" y="205740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2743200"/>
            <a:ext cx="2240280" cy="0"/>
          </a:xfrm>
          <a:prstGeom prst="line">
            <a:avLst/>
          </a:prstGeom>
          <a:noFill/>
          <a:ln w="12700">
            <a:solidFill>
              <a:srgbClr val="C9CFE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rot="-1800000" flipV="1">
            <a:off x="1751076" y="2423160"/>
            <a:ext cx="1005840" cy="640080"/>
          </a:xfrm>
          <a:prstGeom prst="line">
            <a:avLst/>
          </a:prstGeom>
          <a:noFill/>
          <a:ln w="44450">
            <a:solidFill>
              <a:srgbClr val="1B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9132" y="2688336"/>
            <a:ext cx="109728" cy="109728"/>
          </a:xfrm>
          <a:prstGeom prst="ellipse">
            <a:avLst/>
          </a:prstGeom>
          <a:solidFill>
            <a:srgbClr val="1B8A8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" y="4023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increasing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4256" y="1783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205740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74336" y="2743200"/>
            <a:ext cx="2240280" cy="0"/>
          </a:xfrm>
          <a:prstGeom prst="line">
            <a:avLst/>
          </a:prstGeom>
          <a:noFill/>
          <a:ln w="12700">
            <a:solidFill>
              <a:srgbClr val="C9CF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rot="1800000">
            <a:off x="5591556" y="2423160"/>
            <a:ext cx="1005840" cy="640080"/>
          </a:xfrm>
          <a:prstGeom prst="line">
            <a:avLst/>
          </a:prstGeom>
          <a:noFill/>
          <a:ln w="44450">
            <a:solidFill>
              <a:srgbClr val="D64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9612" y="2688336"/>
            <a:ext cx="109728" cy="10972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334256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34256" y="4023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decreasing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74736" y="1783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94776" y="2057400"/>
            <a:ext cx="2880360" cy="1371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14816" y="2743200"/>
            <a:ext cx="2240280" cy="0"/>
          </a:xfrm>
          <a:prstGeom prst="line">
            <a:avLst/>
          </a:prstGeom>
          <a:noFill/>
          <a:ln w="12700">
            <a:solidFill>
              <a:srgbClr val="C9CFE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432036" y="2423160"/>
            <a:ext cx="1005840" cy="640080"/>
          </a:xfrm>
          <a:prstGeom prst="line">
            <a:avLst/>
          </a:prstGeom>
          <a:noFill/>
          <a:ln w="444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80092" y="2688336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8174736" y="3611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74736" y="4023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point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" y="5029200"/>
            <a:ext cx="11201400" cy="1051560"/>
          </a:xfrm>
          <a:prstGeom prst="roundRect">
            <a:avLst>
              <a:gd name="adj" fmla="val 10435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9536" y="502920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ML:  We want to reach the point where the loss is at a minimum — where the slope (derivative) is zero.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· PARTIAL DERIVATIVES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Have Many Inputs?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derivative deals with one variable — f(x). An ML model has many: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f(x, y) = x² + y²</a:t>
            </a:r>
            <a:endParaRPr lang="en-US" sz="17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∂f/∂x = 2x            ∂f/∂y = 2y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 = change one variable, keep the others fixed.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F3B"/>
                </a:solidFill>
              </a:rPr>
              <a:t>“What happens if I change only x?”  →  ∂f/∂x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</a:rPr>
              <a:t>“What if I change only y?”  →  ∂f/∂y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analogy: Marks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marks depend on study hours + sleep hours.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29400" y="320040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262B52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2004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∂Marks / ∂StudyHours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4251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marks change with study hours, while keeping sleep hours fixed?”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· GRADIENT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All the Directions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f(x, y) = x² + 3xy + y²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∂f/∂x = 2x + 3y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∂f/∂y = 3x + 2y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29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∇f  =  [ 2x + 3y ,  3x + 2y 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derivatives give individual directions. The gradient puts all of them together.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a hill…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06840" y="3611880"/>
            <a:ext cx="730367" cy="265832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06840" y="3611880"/>
            <a:ext cx="328476" cy="704419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41008" y="3611880"/>
            <a:ext cx="265832" cy="730367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6473" y="3611880"/>
            <a:ext cx="730367" cy="265832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6473" y="3346048"/>
            <a:ext cx="730367" cy="265832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78364" y="2907461"/>
            <a:ext cx="328476" cy="704419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2881513"/>
            <a:ext cx="265832" cy="730367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3283404"/>
            <a:ext cx="704419" cy="328476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33688" y="3538728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2788920"/>
            <a:ext cx="9144" cy="822960"/>
          </a:xfrm>
          <a:prstGeom prst="line">
            <a:avLst/>
          </a:prstGeom>
          <a:noFill/>
          <a:ln w="44450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8181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∇f — steepest uphill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3611880"/>
            <a:ext cx="9144" cy="822960"/>
          </a:xfrm>
          <a:prstGeom prst="line">
            <a:avLst/>
          </a:prstGeom>
          <a:noFill/>
          <a:ln w="44450">
            <a:solidFill>
              <a:srgbClr val="2EC4B6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63524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−∇f — steepest downhill (we go this way)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262B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· THE HERO 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91640" y="2103120"/>
            <a:ext cx="1005840" cy="73152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2834640"/>
            <a:ext cx="868680" cy="59436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3429000"/>
            <a:ext cx="731520" cy="41148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3840480"/>
            <a:ext cx="594360" cy="27432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7632" y="2039112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2633472" y="2770632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3502152" y="3364992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33672" y="3776472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4050792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3730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loss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1920240"/>
            <a:ext cx="0" cy="2468880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" y="4389120"/>
            <a:ext cx="4206240" cy="0"/>
          </a:xfrm>
          <a:prstGeom prst="line">
            <a:avLst/>
          </a:prstGeom>
          <a:noFill/>
          <a:ln w="19050">
            <a:solidFill>
              <a:srgbClr val="4A508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9377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377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←  θ  −  η ∇L(θ)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783080"/>
          <a:ext cx="5943600" cy="310896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parameter / 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∇L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of the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in the opposite direction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669280" y="507492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B8A80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0" y="50749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one equation explains how the model learns.”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· CHAIN RULE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with the formula — start with the chain: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5240">
            <a:solidFill>
              <a:srgbClr val="1B1F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2576" y="2711196"/>
            <a:ext cx="365760" cy="201168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9" name="Shape 7"/>
          <p:cNvSpPr/>
          <p:nvPr/>
        </p:nvSpPr>
        <p:spPr>
          <a:xfrm>
            <a:off x="2724912" y="24688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B1F3B"/>
          </a:solidFill>
          <a:ln w="15240">
            <a:solidFill>
              <a:srgbClr val="1B1F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24688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x²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78808" y="2711196"/>
            <a:ext cx="365760" cy="201168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81144" y="24688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B1F3B"/>
          </a:solidFill>
          <a:ln w="1524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4688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sin(u)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x → x² → sin(x²)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404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dy/dx = (dy/du) · (du/dx)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“Differentiate the outside, times the inside.”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sin(x²)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926080"/>
          <a:ext cx="4754880" cy="1005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DE1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DE1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sin(u)  →  cos(u)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DE1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DE1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x²  →  2x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629400" y="41605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B8A80"/>
          </a:solidFill>
          <a:ln/>
        </p:spPr>
      </p:sp>
      <p:sp>
        <p:nvSpPr>
          <p:cNvPr id="23" name="Text 20"/>
          <p:cNvSpPr/>
          <p:nvPr/>
        </p:nvSpPr>
        <p:spPr>
          <a:xfrm>
            <a:off x="662940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dy/dx = 2x · cos(x²)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· CHAIN RULE IN NETWORKS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in a Neural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“Calculate the answer”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60604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3081528"/>
            <a:ext cx="182880" cy="146304"/>
          </a:xfrm>
          <a:prstGeom prst="downArrow">
            <a:avLst/>
          </a:prstGeom>
          <a:solidFill>
            <a:srgbClr val="1B8A80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300984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00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3776472"/>
            <a:ext cx="182880" cy="146304"/>
          </a:xfrm>
          <a:prstGeom prst="downArrow">
            <a:avLst/>
          </a:prstGeom>
          <a:solidFill>
            <a:srgbClr val="1B8A8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3995928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995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4471416"/>
            <a:ext cx="182880" cy="146304"/>
          </a:xfrm>
          <a:prstGeom prst="downArrow">
            <a:avLst/>
          </a:prstGeom>
          <a:solidFill>
            <a:srgbClr val="1B8A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4690872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690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5166360"/>
            <a:ext cx="182880" cy="146304"/>
          </a:xfrm>
          <a:prstGeom prst="downArrow">
            <a:avLst/>
          </a:prstGeom>
          <a:solidFill>
            <a:srgbClr val="1B8A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5385816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FF9F1C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3858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32918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73736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responsibility”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FF9F1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081528"/>
            <a:ext cx="182880" cy="146304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3300984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300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3776472"/>
            <a:ext cx="182880" cy="146304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3995928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995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4471416"/>
            <a:ext cx="182880" cy="146304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937760" y="4690872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4690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63840" y="1737360"/>
            <a:ext cx="3776472" cy="4389120"/>
          </a:xfrm>
          <a:prstGeom prst="roundRect">
            <a:avLst>
              <a:gd name="adj" fmla="val 2906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83880" y="201168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8" name="Image 0" descr="/home/claude/calc_ml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03" y="2083003"/>
            <a:ext cx="451714" cy="45171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183880" y="278892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model needs to know how each weight contributed to the error.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183880" y="3931920"/>
            <a:ext cx="3136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where the chain rule comes in — it lets error travel backward through every layer.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· BACKPROPAGATION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Rule, Applied Repeatedly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= the Chain Rule applied repeatedly, from the output back toward the input.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39496" y="30632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484" y="3291840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586484" y="3291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" y="4315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prediction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63824" y="3886200"/>
            <a:ext cx="192024" cy="182880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30632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21124" y="3291840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4421124" y="3291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74136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11296" y="4315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mistake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98464" y="3886200"/>
            <a:ext cx="192024" cy="182880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08776" y="30632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55764" y="3291840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7255764" y="3291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08776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5936" y="4315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responsibility (chain rule)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33104" y="3886200"/>
            <a:ext cx="192024" cy="182880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43416" y="30632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0404" y="3291840"/>
            <a:ext cx="512064" cy="51206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0404" y="3291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43416" y="3931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80576" y="4315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W1, W2, 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backpropagation doesn't mean going backward through time — it means sending error information backward through the network.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ANALOGY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Did Each Factor Contribute?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a student gets 60/100. We want to know why.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560320"/>
          <a:ext cx="4846320" cy="201168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754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asks the same question: “How much did each factor (weight) contribute to the final error?” Then the model adjusts the matching weight.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version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0" y="242316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262B52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2423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061704" y="2825496"/>
            <a:ext cx="164592" cy="128016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6" name="Shape 10"/>
          <p:cNvSpPr/>
          <p:nvPr/>
        </p:nvSpPr>
        <p:spPr>
          <a:xfrm>
            <a:off x="6949440" y="2990088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262B52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29900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61704" y="3392424"/>
            <a:ext cx="164592" cy="128016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16" name="Shape 13"/>
          <p:cNvSpPr/>
          <p:nvPr/>
        </p:nvSpPr>
        <p:spPr>
          <a:xfrm>
            <a:off x="6949440" y="3557016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262B52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35570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61704" y="3959352"/>
            <a:ext cx="164592" cy="128016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19" name="Shape 16"/>
          <p:cNvSpPr/>
          <p:nvPr/>
        </p:nvSpPr>
        <p:spPr>
          <a:xfrm>
            <a:off x="6949440" y="4123944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262B52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0" y="41239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61704" y="4526280"/>
            <a:ext cx="164592" cy="128016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0" y="4690872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262B52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469087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061704" y="5093208"/>
            <a:ext cx="164592" cy="128016"/>
          </a:xfrm>
          <a:prstGeom prst="downArrow">
            <a:avLst/>
          </a:prstGeom>
          <a:solidFill>
            <a:srgbClr val="2EC4B6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0" y="525780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FF9F1C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0" y="5257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&amp; 8 · CURVATURE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Hessian and Taylor Series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— can the slope itself change?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423160"/>
          <a:ext cx="4846320" cy="1554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derivative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direction? (slope)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derivative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the slope changing?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Hessian (many variables)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of second partial derivatives — curvature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→ Direction        Hessian → Curvature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617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 this way” (gradient)  vs.  “Be careful — the surface is steep/curved here” (Hessian). This helps advanced optimizers choose better step sizes.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Series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29400" y="2377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a function near a point, using derivatives.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29400" y="301752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262B52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30175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f(x+δ) ≈ f(x) + f'(x)δ + ½f''(x)δ²</a:t>
            </a:r>
            <a:endParaRPr lang="en-US" sz="1500" dirty="0"/>
          </a:p>
        </p:txBody>
      </p:sp>
      <p:sp>
        <p:nvSpPr>
          <p:cNvPr id="6" name="Text 11"/>
          <p:cNvSpPr/>
          <p:nvPr/>
        </p:nvSpPr>
        <p:spPr>
          <a:xfrm>
            <a:off x="6629400" y="42062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</a:rPr>
              <a:t>First derivative → direction of change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Second derivative → curvature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62940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enough for a first introduction.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2B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Entire Unit in One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1188" y="237744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908" y="2377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11096" y="2775204"/>
            <a:ext cx="91440" cy="164592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8" name="Shape 6"/>
          <p:cNvSpPr/>
          <p:nvPr/>
        </p:nvSpPr>
        <p:spPr>
          <a:xfrm>
            <a:off x="2016252" y="237744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B8A8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1972" y="2377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Loss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2775204"/>
            <a:ext cx="91440" cy="164592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1" name="Shape 9"/>
          <p:cNvSpPr/>
          <p:nvPr/>
        </p:nvSpPr>
        <p:spPr>
          <a:xfrm>
            <a:off x="3671316" y="237744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7036" y="2377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Gradient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21224" y="2775204"/>
            <a:ext cx="91440" cy="164592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4" name="Shape 12"/>
          <p:cNvSpPr/>
          <p:nvPr/>
        </p:nvSpPr>
        <p:spPr>
          <a:xfrm>
            <a:off x="5326380" y="237744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B8A8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2100" y="2377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76288" y="2775204"/>
            <a:ext cx="91440" cy="164592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1444" y="237744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7164" y="2377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31352" y="2775204"/>
            <a:ext cx="91440" cy="164592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36508" y="237744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1B8A80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2228" y="2377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86416" y="2775204"/>
            <a:ext cx="91440" cy="164592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1572" y="2377440"/>
            <a:ext cx="1536192" cy="960120"/>
          </a:xfrm>
          <a:prstGeom prst="roundRect">
            <a:avLst>
              <a:gd name="adj" fmla="val 761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7292" y="23774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80076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79676" y="44348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9676" y="4434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why we study calculus in machine learning.”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Memory Trick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345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1F3B"/>
                </a:solidFill>
              </a:rPr>
              <a:t>Derivative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How fast?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20345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1828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1F3B"/>
                </a:solidFill>
              </a:rPr>
              <a:t>Partial derivative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How fast, with respect to one variable?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1775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77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1F3B"/>
                </a:solidFill>
              </a:rPr>
              <a:t>Gradient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Which direction is steepest?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971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31775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177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2971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1F3B"/>
                </a:solidFill>
              </a:rPr>
              <a:t>Chain rule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How does change flow through functions?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3205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320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114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1F3B"/>
                </a:solidFill>
              </a:rPr>
              <a:t>Backpropagation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How does error flow backward?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4114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43205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4320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4114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1F3B"/>
                </a:solidFill>
              </a:rPr>
              <a:t>Hessian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How curved is the function?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54635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463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52578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1F3B"/>
                </a:solidFill>
              </a:rPr>
              <a:t>Gradient descent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How do we move toward minimum loss?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5257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B1F3B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5257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slide visible while solving problems.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INSTRUCTOR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2-Hour Classroom Plan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4480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approach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calculus?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 / loss analogy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+ car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 in 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and weight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derivatives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Two-variable 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65–80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 / steepest direction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80–95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rule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→ x² → sin(x²)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95–110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Backpropagation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flow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110–120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Hessian + recap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vs. curvature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BRINGING IT TO LIFE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Applications of Calculus in AI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4526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calculus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Self-driving cars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how quickly error changes when a parameter changes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derivative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House-price prediction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effect of each feature separately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direction to reduce prediction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recognition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Calculates how changes flow through multiple layers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Backpropagation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 / neural networks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error backward and adjusts weights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prediction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curvature of the loss surface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Repeatedly adjusts parameters to minimize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· SET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Derivative &amp; Partial Derivatives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calc_ml/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209068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Self-Driving Cars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car predicts a steering angle of 25°, but the correct angle is 30°.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(30 − 25)² = 25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derivative dL/dw tells the model: if I slightly change this weight, does the prediction get better or worse?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like asking: if I turn this knob slightly, does the car's prediction improve?”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/home/claude/calc_ml/icons/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2090684"/>
            <a:ext cx="500360" cy="500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236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House-Price Prediction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2940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f(Size, Bedrooms, Location) — a function of many variables.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∂Price/∂Size, ∂Price/∂Bedrooms, ∂Price/∂Location each isolate one feature's effect on price, holding the others fixed.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2940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“Partial derivative = change one factor while keeping the others fixed.”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· SET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&amp; Chain Rule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calc_ml/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209068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Detection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classifier has thousands of word-feature weights. We can't compute just one derivative — we compute all of them together as a gradient ∇L, then move in the direction −∇L to reduce error.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gradient is the direction of steepest climb — we go the opposite way to reduce error.”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/home/claude/calc_ml/icons/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2090684"/>
            <a:ext cx="500360" cy="500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236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Recognition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2940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face-recognition model passes an image through convolution, feature, and hidden layers before producing a prediction and loss: x → u → v → L.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dL/dx = (dL/dv)(dv/du)(du/dx) — the effect travels through every layer.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2940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effect of an early weight travels through each layer, all the way to the loss.”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· SET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 &amp; Gradient Descent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calc_ml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209068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&amp; Neural Networks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predicts “running” when the correct word is “sleeping.” It calculates the loss, then works backward — Prediction → Loss → Layer 4 → … → Layer 1 — computing ∂Loss/∂Weight at every layer via the chain rule.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“Backpropagation is the chain rule applied repeatedly through the network.”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/home/claude/calc_ml/icons/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2090684"/>
            <a:ext cx="500360" cy="500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236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2940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skip a recommended video. The system updates: θ_new = θ_old − η∇L.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→ observe result → calculate error → calculate gradient → update parameters → recommend again.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2940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“Iterative optimization: try, measure, adjust, repeat.”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· SET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Concepts: Fraud &amp; Medical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calc_ml/icons/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209068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DERIVATIVES + GRADIENT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amount, location, time, device, frequency → P(Fraud) = 0.92.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prediction is wrong, ∂L/∂w_amount, ∂L/∂w_location, ∂L/∂w_device… together form the gradient that tells the model which weights to change.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feature should the model change to reduce the error? The gradient tells us.”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/home/claude/calc_ml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2090684"/>
            <a:ext cx="500360" cy="500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+ BACKPROPAGATION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236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Image Diagnosis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2940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MRI/CT image passes through feature extraction and a neural network to produce a tumor probability and loss. If wrong, backpropagation — powered by the chain rule — determines how each weight contributed to the error.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2940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“Chain Rule → Backpropagation → Weight Updates.”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· SET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Hessian &amp; Every Concept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calc_ml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2090684"/>
            <a:ext cx="500360" cy="50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Prediction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f(w₁, w₂). The gradient says which way to move; the Hessian says how curved the loss surface is at that point — useful for choosing safer, smarter step sizes in advanced optimizers.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“Gradient → direction.  Hessian → curvature.”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658368" cy="65836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/home/claude/calc_ml/icons/gamep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04" y="2090684"/>
            <a:ext cx="500360" cy="500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29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CONCEPTS TOGETHER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2360" y="2286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Game-Playing AI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2940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chooses “move left” instead of the better “move right” and receives a low reward. Derivative, partial derivatives, gradient, chain rule, backpropagation, gradient descent, and Hessian all work together to update its policy.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29400" y="54406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4406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decision, every concept in this unit, working together.”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THAT COVERS EVERYTHING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Diagnosing Pneumonia From an X-Ray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0392" y="178308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Image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202996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7" name="Shape 5"/>
          <p:cNvSpPr/>
          <p:nvPr/>
        </p:nvSpPr>
        <p:spPr>
          <a:xfrm>
            <a:off x="2980944" y="178308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6664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65192" y="202996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0" name="Shape 8"/>
          <p:cNvSpPr/>
          <p:nvPr/>
        </p:nvSpPr>
        <p:spPr>
          <a:xfrm>
            <a:off x="5111496" y="178308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95744" y="202996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3" name="Shape 11"/>
          <p:cNvSpPr/>
          <p:nvPr/>
        </p:nvSpPr>
        <p:spPr>
          <a:xfrm>
            <a:off x="7242048" y="178308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Loss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26296" y="202996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16" name="Shape 14"/>
          <p:cNvSpPr/>
          <p:nvPr/>
        </p:nvSpPr>
        <p:spPr>
          <a:xfrm>
            <a:off x="9372600" y="178308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73284" y="2450592"/>
            <a:ext cx="164592" cy="128016"/>
          </a:xfrm>
          <a:prstGeom prst="downArrow">
            <a:avLst/>
          </a:prstGeom>
          <a:solidFill>
            <a:srgbClr val="FF9F1C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" y="288036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34640" y="312724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22" name="Shape 20"/>
          <p:cNvSpPr/>
          <p:nvPr/>
        </p:nvSpPr>
        <p:spPr>
          <a:xfrm>
            <a:off x="2980944" y="288036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6664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65192" y="312724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11496" y="288036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95744" y="312724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28" name="Shape 26"/>
          <p:cNvSpPr/>
          <p:nvPr/>
        </p:nvSpPr>
        <p:spPr>
          <a:xfrm>
            <a:off x="7242048" y="288036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26296" y="3127248"/>
            <a:ext cx="128016" cy="146304"/>
          </a:xfrm>
          <a:prstGeom prst="rightArrow">
            <a:avLst/>
          </a:prstGeom>
          <a:solidFill>
            <a:srgbClr val="FF9F1C"/>
          </a:solidFill>
          <a:ln/>
        </p:spPr>
      </p:sp>
      <p:sp>
        <p:nvSpPr>
          <p:cNvPr id="31" name="Shape 29"/>
          <p:cNvSpPr/>
          <p:nvPr/>
        </p:nvSpPr>
        <p:spPr>
          <a:xfrm>
            <a:off x="9372600" y="288036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FF9F1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2880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751076" y="3794760"/>
            <a:ext cx="8686800" cy="1371600"/>
          </a:xfrm>
          <a:prstGeom prst="roundRect">
            <a:avLst>
              <a:gd name="adj" fmla="val 6667"/>
            </a:avLst>
          </a:prstGeom>
          <a:solidFill>
            <a:srgbClr val="262B5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08276" y="37947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in this pipeline is one of the concepts from this unit — from the raw pixels of the X-ray all the way to a model that has genuinely learned something.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UNIT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U5 Topic, Mapped to the X-Ray Example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783080"/>
          <a:ext cx="9601200" cy="43891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U5 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AI 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of changing one 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derivative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of one parameter while others are held 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of all parameters together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passing through 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Backpropagation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moving backward through the 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Curvature of the loss surface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Updating weights to reduce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262B5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262B52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/home/claude/calc_ml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751" y="14703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5603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train a neural network, you are repeatedly using calculus to answer one question:”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should I change my weights so that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prediction becomes less wrong?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· CALCULUS FOR MACHINE LEARNING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2459</Words>
  <Application>Microsoft Office PowerPoint</Application>
  <PresentationFormat>Widescreen</PresentationFormat>
  <Paragraphs>450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kanakamedala vineela</cp:lastModifiedBy>
  <cp:revision>2</cp:revision>
  <dcterms:created xsi:type="dcterms:W3CDTF">2026-08-04T10:57:47Z</dcterms:created>
  <dcterms:modified xsi:type="dcterms:W3CDTF">2026-08-05T02:43:40Z</dcterms:modified>
</cp:coreProperties>
</file>