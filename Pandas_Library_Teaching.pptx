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430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548640"/>
            <a:ext cx="54864" cy="548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548640"/>
            <a:ext cx="54864" cy="548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548640"/>
            <a:ext cx="54864" cy="548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1005840"/>
            <a:ext cx="54864" cy="548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10149840" y="1005840"/>
            <a:ext cx="54864" cy="548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0" y="1005840"/>
            <a:ext cx="54864" cy="548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to Data Handling &amp; Analysis in Python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6035040" cy="1691640"/>
          </a:xfrm>
          <a:prstGeom prst="roundRect">
            <a:avLst>
              <a:gd name="adj" fmla="val 4865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24128" y="407822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25296" y="407822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1426464" y="407822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0792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3611880"/>
            <a:ext cx="577900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5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tabular data, just like a spreadsheet</a:t>
            </a:r>
            <a:endParaRPr lang="en-US" sz="15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pd.read_csv("students.csv")</a:t>
            </a:r>
            <a:endParaRPr lang="en-US" sz="15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kern="0" spc="1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 •  DataFrame  •  Cleaning  •  Filtering  •  GroupBy  •  Merge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41678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4167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Pandas?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3949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library used to read, clean, and analyze data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tabular data — similar to an Excel sheet or a database table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everyday tasks Pandas handles:</a:t>
            </a:r>
            <a:endParaRPr lang="en-US" sz="150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data</a:t>
            </a:r>
            <a:endParaRPr lang="en-US" sz="150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tables</a:t>
            </a:r>
            <a:endParaRPr lang="en-US" sz="150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data &amp; handling missing values</a:t>
            </a:r>
            <a:endParaRPr lang="en-US" sz="150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Selecting, filtering, and sorting data</a:t>
            </a:r>
            <a:endParaRPr lang="en-US" sz="150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Grouping, aggregating, and combining datasets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92024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7648" y="206654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528816" y="206654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729984" y="206654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03911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82512" y="2340864"/>
            <a:ext cx="506577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3657600"/>
            <a:ext cx="5577840" cy="2377440"/>
          </a:xfrm>
          <a:prstGeom prst="roundRect">
            <a:avLst>
              <a:gd name="adj" fmla="val 3462"/>
            </a:avLst>
          </a:prstGeom>
          <a:solidFill>
            <a:srgbClr val="F5F7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840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Excel, inside Python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42519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and columns, formulas, filters, and pivot-style summaries — all scriptable, repeatable, and fast, even on millions of rows.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69164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STRUCTURES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Core Data Structures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F5F7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5440680" cy="822960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03120"/>
            <a:ext cx="544068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19656"/>
            <a:ext cx="5440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 data — like a single column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291840"/>
            <a:ext cx="4983480" cy="2194560"/>
          </a:xfrm>
          <a:prstGeom prst="roundRect">
            <a:avLst>
              <a:gd name="adj" fmla="val 3750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86968" y="343814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" y="343814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3" name="Shape 11"/>
          <p:cNvSpPr/>
          <p:nvPr/>
        </p:nvSpPr>
        <p:spPr>
          <a:xfrm>
            <a:off x="1289304" y="343814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" y="3712464"/>
            <a:ext cx="4471416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pd.Series(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[85, 90, 78],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index=["Ravi","Sita","Anu"]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access by label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print(marks["Sita"])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F5F7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691640"/>
            <a:ext cx="544068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2103120"/>
            <a:ext cx="54406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819656"/>
            <a:ext cx="5440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37960" y="269748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Two-dimensional table — rows and columns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92240" y="3291840"/>
            <a:ext cx="4983480" cy="2194560"/>
          </a:xfrm>
          <a:prstGeom prst="roundRect">
            <a:avLst>
              <a:gd name="adj" fmla="val 3750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93408" y="343814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22" name="Shape 20"/>
          <p:cNvSpPr/>
          <p:nvPr/>
        </p:nvSpPr>
        <p:spPr>
          <a:xfrm>
            <a:off x="6894576" y="343814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23" name="Shape 21"/>
          <p:cNvSpPr/>
          <p:nvPr/>
        </p:nvSpPr>
        <p:spPr>
          <a:xfrm>
            <a:off x="7095744" y="343814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24" name="Text 22"/>
          <p:cNvSpPr/>
          <p:nvPr/>
        </p:nvSpPr>
        <p:spPr>
          <a:xfrm>
            <a:off x="6748272" y="3712464"/>
            <a:ext cx="4471416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{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[101,102,103],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["Ravi","Sita","Anu"]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pd.DataFrame(data)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91717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391717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SERIES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a Series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3949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Series is a single labeled column of data</a:t>
            </a:r>
            <a:endParaRPr lang="en-US" sz="155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 pd.Series(data)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from a plain Python list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custom index instead of default 0,1,2…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any value using its index label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577840" cy="1600200"/>
          </a:xfrm>
          <a:prstGeom prst="roundRect">
            <a:avLst>
              <a:gd name="adj" fmla="val 5143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7648" y="17007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528816" y="17007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729984" y="17007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67335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from a list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82512" y="1975104"/>
            <a:ext cx="5065776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pd.Series([85, 90, 78, 92, 88])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print(marks)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3337560"/>
            <a:ext cx="5577840" cy="2514600"/>
          </a:xfrm>
          <a:prstGeom prst="roundRect">
            <a:avLst>
              <a:gd name="adj" fmla="val 3273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348386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28816" y="348386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9984" y="348386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4564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custom index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82512" y="3758184"/>
            <a:ext cx="5065776" cy="191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pd.Series(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[85, 90, 78],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index=["Ravi", "Sita", "Anu"]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print(marks)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accessing a value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print(marks["Sita"])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16659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616659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DATAFRAME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DataFrame — 3 Ways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212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is a 2-D table of rows and columns</a:t>
            </a:r>
            <a:endParaRPr lang="en-US" sz="145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from a dictionary</a:t>
            </a:r>
            <a:endParaRPr lang="en-US" sz="145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become column names</a:t>
            </a:r>
            <a:endParaRPr lang="en-US" sz="145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from a list of lists</a:t>
            </a:r>
            <a:endParaRPr lang="en-US" sz="145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column names separately</a:t>
            </a:r>
            <a:endParaRPr lang="en-US" sz="145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 — from a list of dictionaries</a:t>
            </a:r>
            <a:endParaRPr lang="en-US" sz="145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dict is one row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035040" y="1536192"/>
            <a:ext cx="5669280" cy="1691640"/>
          </a:xfrm>
          <a:prstGeom prst="roundRect">
            <a:avLst>
              <a:gd name="adj" fmla="val 4865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36208" y="1682496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437376" y="1682496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638544" y="1682496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655064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dictionary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91072" y="1956816"/>
            <a:ext cx="5157216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{"ID": [101,102,103],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"Name": ["Ravi","Sita","Anu"],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"Marks": [85, 90, 78]}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pd.DataFrame(data)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3310128"/>
            <a:ext cx="5669280" cy="1463040"/>
          </a:xfrm>
          <a:prstGeom prst="roundRect">
            <a:avLst>
              <a:gd name="adj" fmla="val 5625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6208" y="3456432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37376" y="3456432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6638544" y="3456432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342900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list of lists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91072" y="3730752"/>
            <a:ext cx="5157216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[[101,"Ravi",85],[102,"Sita",90]]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pd.DataFrame(data,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columns=["ID","Name","Marks"])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4846320"/>
            <a:ext cx="5669280" cy="1234440"/>
          </a:xfrm>
          <a:prstGeom prst="roundRect">
            <a:avLst>
              <a:gd name="adj" fmla="val 6667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6208" y="499262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7376" y="499262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21" name="Shape 19"/>
          <p:cNvSpPr/>
          <p:nvPr/>
        </p:nvSpPr>
        <p:spPr>
          <a:xfrm>
            <a:off x="6638544" y="499262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4965192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 — list of dicts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91072" y="5266944"/>
            <a:ext cx="5157216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[{"ID":101,"Name":"Ravi","Marks":85},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{"ID":102,"Name":"Sita","Marks":90}]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pd.DataFrame(data)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41678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4167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FILE I/O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Files Using Pandas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1206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can load data straight from common file formats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loads the whole file into a DataFrame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the same way no matter the source format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always a regular DataFrame, ready to explore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26480" y="160020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1B2138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72821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21671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pd.read_csv("students.csv")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0" y="301752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1B2138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314553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35844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pd.read_excel("students.xlsx")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4434840"/>
            <a:ext cx="5577840" cy="1234440"/>
          </a:xfrm>
          <a:prstGeom prst="roundRect">
            <a:avLst>
              <a:gd name="adj" fmla="val 6667"/>
            </a:avLst>
          </a:prstGeom>
          <a:solidFill>
            <a:srgbClr val="1B2138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456285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50017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pd.read_json("students.json")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6698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6669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VIEWING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Viewing Data — head() &amp; tail()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3949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print(df) displays the entire DataFrame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head() previews rows from the top</a:t>
            </a:r>
            <a:endParaRPr lang="en-US" sz="155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shows first 5 rows</a:t>
            </a:r>
            <a:endParaRPr lang="en-US" sz="155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number for a custom count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tail() previews rows from the bottom</a:t>
            </a:r>
            <a:endParaRPr lang="en-US" sz="155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shows last 5 rows</a:t>
            </a:r>
            <a:endParaRPr lang="en-US" sz="155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number for a custom count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126480" y="1600200"/>
            <a:ext cx="5577840" cy="1965960"/>
          </a:xfrm>
          <a:prstGeom prst="roundRect">
            <a:avLst>
              <a:gd name="adj" fmla="val 4186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7648" y="174650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528816" y="174650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729984" y="174650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71907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82512" y="2020824"/>
            <a:ext cx="5065776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print(df)              # full table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              # first 5 rows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df.head(3)              # first 3 rows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3794760"/>
            <a:ext cx="5577840" cy="1508760"/>
          </a:xfrm>
          <a:prstGeom prst="roundRect">
            <a:avLst>
              <a:gd name="adj" fmla="val 5455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394106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28816" y="394106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9984" y="394106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9136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tail()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82512" y="4215384"/>
            <a:ext cx="506577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df.tail()                # last 5 rows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df.tail(2)               # last 2 rows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69164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INSPECTING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Information About Data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56232"/>
            <a:ext cx="2926080" cy="512064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56232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931920" y="1691640"/>
            <a:ext cx="7589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rows and columns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60904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825496"/>
            <a:ext cx="2926080" cy="512064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825496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931920" y="2660904"/>
            <a:ext cx="7589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all column names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630168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794760"/>
            <a:ext cx="2926080" cy="512064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794760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931920" y="3630168"/>
            <a:ext cx="7589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of every column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599432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4764024"/>
            <a:ext cx="2926080" cy="512064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764024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931920" y="4599432"/>
            <a:ext cx="7589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structural summary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5568696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5733288"/>
            <a:ext cx="2926080" cy="512064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573328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931920" y="5568696"/>
            <a:ext cx="7589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 (mean, min, max…)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16659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616659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SELECTING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Columns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3949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single column with its name in brackets</a:t>
            </a:r>
            <a:endParaRPr lang="en-US" sz="165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Series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multiple columns with a list of names</a:t>
            </a:r>
            <a:endParaRPr lang="en-US" sz="165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brackets — returns a DataFrame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7648" y="188366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528816" y="188366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729984" y="188366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8562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82512" y="2157984"/>
            <a:ext cx="506577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df["Name"]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338328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35295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28816" y="35295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9984" y="35295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50215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columns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82512" y="3803904"/>
            <a:ext cx="506577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df[["Name", "Marks"]]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916582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916582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ROW SELECTION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Selection — loc[] vs iloc[]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440680" cy="3383280"/>
          </a:xfrm>
          <a:prstGeom prst="roundRect">
            <a:avLst>
              <a:gd name="adj" fmla="val 2703"/>
            </a:avLst>
          </a:prstGeom>
          <a:solidFill>
            <a:srgbClr val="F5F7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64792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loc[ ]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25856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using labels / conditions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4983480" cy="2103120"/>
          </a:xfrm>
          <a:prstGeom prst="roundRect">
            <a:avLst>
              <a:gd name="adj" fmla="val 3913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6968" y="28437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28437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1" name="Shape 9"/>
          <p:cNvSpPr/>
          <p:nvPr/>
        </p:nvSpPr>
        <p:spPr>
          <a:xfrm>
            <a:off x="1289304" y="28437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2" name="Text 10"/>
          <p:cNvSpPr/>
          <p:nvPr/>
        </p:nvSpPr>
        <p:spPr>
          <a:xfrm>
            <a:off x="941832" y="3118104"/>
            <a:ext cx="447141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df.loc[0]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df.loc[0:2]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df.loc[0:2, ["Name","Marks"]]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end label IS included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440680" cy="3383280"/>
          </a:xfrm>
          <a:prstGeom prst="roundRect">
            <a:avLst>
              <a:gd name="adj" fmla="val 2703"/>
            </a:avLst>
          </a:prstGeom>
          <a:solidFill>
            <a:srgbClr val="F5F7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764792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iloc[ ]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46520" y="225856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using integer positions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2697480"/>
            <a:ext cx="4983480" cy="2103120"/>
          </a:xfrm>
          <a:prstGeom prst="roundRect">
            <a:avLst>
              <a:gd name="adj" fmla="val 3913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93408" y="28437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8" name="Shape 16"/>
          <p:cNvSpPr/>
          <p:nvPr/>
        </p:nvSpPr>
        <p:spPr>
          <a:xfrm>
            <a:off x="6894576" y="28437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9" name="Shape 17"/>
          <p:cNvSpPr/>
          <p:nvPr/>
        </p:nvSpPr>
        <p:spPr>
          <a:xfrm>
            <a:off x="7095744" y="28437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20" name="Text 18"/>
          <p:cNvSpPr/>
          <p:nvPr/>
        </p:nvSpPr>
        <p:spPr>
          <a:xfrm>
            <a:off x="6748272" y="3118104"/>
            <a:ext cx="447141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df.iloc[0]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df.iloc[0:3]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df.iloc[0:3, 1:3]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end position EXCLUDED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2120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21208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 loc uses labels and includes the end of a slice — iloc uses integer positions and excludes the end.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6698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6669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COLUMNS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 New Column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3949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values to a new column name in brackets</a:t>
            </a:r>
            <a:endParaRPr lang="en-US" sz="160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df["new_column"] = values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can be a plain list...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...or the result of a calculation on existing columns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7648" y="188366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528816" y="188366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729984" y="188366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8562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list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82512" y="2157984"/>
            <a:ext cx="506577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df["Grade"] = ["A", "A+", "B"]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26480" y="338328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35295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28816" y="35295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9984" y="35295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50215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calculation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82512" y="3803904"/>
            <a:ext cx="506577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df["Bonus"] = df["Marks"] + 5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6698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6669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COLUMNS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Values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3949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single cell using loc[row, column]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many rows at once using a condition inside loc[]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rows matching the condition get changed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7648" y="188366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528816" y="188366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729984" y="188366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8562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one value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82512" y="2157984"/>
            <a:ext cx="506577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df.loc[0, "Marks"] = 95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3383280"/>
            <a:ext cx="5577840" cy="1463040"/>
          </a:xfrm>
          <a:prstGeom prst="roundRect">
            <a:avLst>
              <a:gd name="adj" fmla="val 5625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35295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28816" y="35295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9984" y="35295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50215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using a condition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82512" y="3803904"/>
            <a:ext cx="5065776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df.loc[df["Marks"] &lt; 80, "Grade"] = "B"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16659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616659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FILTERING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3949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 by placing a condition inside df[ ]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conditions with &amp; (AND) or | (OR)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wrap each condition in its own parentheses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577840" cy="2743200"/>
          </a:xfrm>
          <a:prstGeom prst="roundRect">
            <a:avLst>
              <a:gd name="adj" fmla="val 3000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7648" y="17007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528816" y="17007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729984" y="17007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67335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82512" y="1975104"/>
            <a:ext cx="5065776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df[df["Marks"] &gt; 80]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simple filter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df[df["Branch"] == "CSE"]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equals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df[(df["Marks"]&gt;80) &amp; (df["Branch"]=="CSE")]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df[(df["Marks"]&gt;90) | (df["Branch"]=="IT")]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41678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4167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CLEANING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Missing Values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3949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missing values across the DataFrame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are missing per column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 that contain missing values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fill them in with a default or computed value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577840" cy="2926080"/>
          </a:xfrm>
          <a:prstGeom prst="roundRect">
            <a:avLst>
              <a:gd name="adj" fmla="val 2813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7648" y="17007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528816" y="17007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729984" y="17007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975104"/>
            <a:ext cx="5065776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/ count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df.dropna(inplace=True)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fill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df.fillna(0)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df["Marks"]=df["Marks"].fillna(df["Marks"].mean())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41678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4167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CLEANING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Duplicates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3949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which rows are exact duplicates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 rows, keeping the first occurrence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inplace=True to modify the DataFrame directly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7648" y="188366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528816" y="188366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729984" y="188366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8562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82512" y="2157984"/>
            <a:ext cx="506577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26480" y="3383280"/>
            <a:ext cx="5577840" cy="1691640"/>
          </a:xfrm>
          <a:prstGeom prst="roundRect">
            <a:avLst>
              <a:gd name="adj" fmla="val 4865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35295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28816" y="35295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9984" y="35295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50215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82512" y="3803904"/>
            <a:ext cx="5065776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df.drop_duplicates()</a:t>
            </a:r>
            <a:endParaRPr lang="en-US" sz="13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df.drop_duplicates(inplace=True)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66621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766621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15-16 · CLEANING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Renaming Columns &amp; Changing Types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1206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Renaming Columns</a:t>
            </a:r>
            <a:endParaRPr lang="en-US" sz="150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dictionary of old → new names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Data Types</a:t>
            </a:r>
            <a:endParaRPr lang="en-US" sz="150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current types first with df.dtypes</a:t>
            </a:r>
            <a:endParaRPr lang="en-US" sz="150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using astype()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0" y="1600200"/>
            <a:ext cx="5669280" cy="1554480"/>
          </a:xfrm>
          <a:prstGeom prst="roundRect">
            <a:avLst>
              <a:gd name="adj" fmla="val 5294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36208" y="174650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437376" y="174650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638544" y="174650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719072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91072" y="2020824"/>
            <a:ext cx="5157216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df.rename(columns={"old_name":"new_name"})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df.rename(columns={"Marks":"Score"},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inplace=True)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3337560"/>
            <a:ext cx="5669280" cy="1828800"/>
          </a:xfrm>
          <a:prstGeom prst="roundRect">
            <a:avLst>
              <a:gd name="adj" fmla="val 4500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6208" y="348386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37376" y="348386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6638544" y="348386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3758184"/>
            <a:ext cx="5157216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df["Marks"] = df["Marks"].astype(int)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df["Marks"] = df["Marks"].astype(float)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df["ID"] = df["ID"].astype(str)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6698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6669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SORTING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949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ascending by default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ascending=False to sort descending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multiple columns at once</a:t>
            </a:r>
            <a:endParaRPr lang="en-US" sz="155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list of columns and a matching list of directions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577840" cy="2651760"/>
          </a:xfrm>
          <a:prstGeom prst="roundRect">
            <a:avLst>
              <a:gd name="adj" fmla="val 3103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7648" y="17007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528816" y="17007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729984" y="17007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975104"/>
            <a:ext cx="5065776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ascending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df.sort_values("Marks")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descending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df.sort_values("Marks", ascending=False)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columns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df.sort_values(["Branch","Marks"],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ascending=[True, False])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41678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4167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18-19 · STATS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 Values &amp; Basic Math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1206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value_counts() tallies how often each category appears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ships built-in math on any numeric column:</a:t>
            </a:r>
            <a:endParaRPr lang="en-US" sz="155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mean, max, min, count, median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035040" y="1600200"/>
            <a:ext cx="5669280" cy="1234440"/>
          </a:xfrm>
          <a:prstGeom prst="roundRect">
            <a:avLst>
              <a:gd name="adj" fmla="val 6667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36208" y="174650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437376" y="174650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638544" y="174650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719072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value_counts()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91072" y="2020824"/>
            <a:ext cx="5157216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df["Branch"].value_counts()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2971800"/>
            <a:ext cx="5669280" cy="2286000"/>
          </a:xfrm>
          <a:prstGeom prst="roundRect">
            <a:avLst>
              <a:gd name="adj" fmla="val 3600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6208" y="311810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37376" y="311810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6638544" y="311810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3090672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operations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91072" y="3392424"/>
            <a:ext cx="5157216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df["Marks"].sum()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df["Marks"].mean()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df["Marks"].max()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df["Marks"].min()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df["Marks"].count()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df["Marks"].median()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66621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766621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20-21 · GROUPING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 Data — groupby() &amp; agg()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3949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splits data into groups by column value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an aggregation to summarize each group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agg() runs several statistics in one call</a:t>
            </a:r>
            <a:endParaRPr lang="en-US" sz="1500" dirty="0"/>
          </a:p>
          <a:p>
            <a:pPr marL="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 groupby, or directly on a column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577840" cy="1508760"/>
          </a:xfrm>
          <a:prstGeom prst="roundRect">
            <a:avLst>
              <a:gd name="adj" fmla="val 5455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7648" y="17007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528816" y="17007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729984" y="17007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67335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by group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82512" y="1975104"/>
            <a:ext cx="506577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df.groupby("Branch")["Marks"].mean()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3246120"/>
            <a:ext cx="5577840" cy="1508760"/>
          </a:xfrm>
          <a:prstGeom prst="roundRect">
            <a:avLst>
              <a:gd name="adj" fmla="val 5455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339242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28816" y="339242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9984" y="339242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36499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aggregations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82512" y="3666744"/>
            <a:ext cx="506577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df.groupby("Branch")["Marks"]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.agg(["mean","max","min","count"])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4937760"/>
            <a:ext cx="5577840" cy="1005840"/>
          </a:xfrm>
          <a:prstGeom prst="roundRect">
            <a:avLst>
              <a:gd name="adj" fmla="val 8182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27648" y="508406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20" name="Shape 18"/>
          <p:cNvSpPr/>
          <p:nvPr/>
        </p:nvSpPr>
        <p:spPr>
          <a:xfrm>
            <a:off x="6528816" y="508406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9984" y="508406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50566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agg() directly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82512" y="5358384"/>
            <a:ext cx="50657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df[["Marks"]].agg(["mean","max","min"])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16659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616659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COMBINING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DataFrames — concat()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3949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two or more DataFrames vertically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index numbers are kept from the originals by default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ignore_index=True to renumber rows 0, 1, 2 …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7648" y="188366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528816" y="188366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729984" y="188366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8562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vertically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82512" y="2157984"/>
            <a:ext cx="506577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pd.concat([df1, df2])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26480" y="3383280"/>
            <a:ext cx="5577840" cy="1417320"/>
          </a:xfrm>
          <a:prstGeom prst="roundRect">
            <a:avLst>
              <a:gd name="adj" fmla="val 5806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35295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28816" y="35295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9984" y="35295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50215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index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82512" y="3803904"/>
            <a:ext cx="5065776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pd.concat([df1, df2], ignore_index=True)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16659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616659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· COMBINING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DataFrames — merge()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7007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7007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007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733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tables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3232" y="1975104"/>
            <a:ext cx="488289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pd.DataFrame({"ID":[101,102,103],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"Name":["Ravi","Sita","Anu"]})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pd.DataFrame({"ID":[101,102,103],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"Marks":[85, 90, 78]})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380390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380390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380390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77647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on a shared key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3232" y="4078224"/>
            <a:ext cx="488289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pd.merge(students, marks, on="ID")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09360" y="19568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IDs in both tables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2311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how="inner"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27432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09360" y="31455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the left table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4198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how="left"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9319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09360" y="43342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the right table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4608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how="right"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512064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5212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Join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09360" y="55229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 tables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57972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how="outer"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6698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6669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· STRINGS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Strings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949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Pandas' .str accessor brings Python string methods to entire columns at once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case, measure length, search, or replace text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contains() supports case-insensitive matching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577840" cy="3017520"/>
          </a:xfrm>
          <a:prstGeom prst="roundRect">
            <a:avLst>
              <a:gd name="adj" fmla="val 2727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7648" y="17007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528816" y="17007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729984" y="17007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975104"/>
            <a:ext cx="5065776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df["Name"].str.upper()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df["Name"].str.lower()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df["Name"].str.len()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df[df["Name"].str.contains("ra", case=False)]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df["Name"].str.replace("Ravi","Ravi Kumar")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841602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841602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25-26 · FUNCTIONS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apply() and Iterating with iterrows()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3949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apply() runs a function across a column, often with a lambda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iterrows() loops row by row, giving index + row data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vectorized operations (like apply) over iterrows() for most data processing — they're faster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577840" cy="1645920"/>
          </a:xfrm>
          <a:prstGeom prst="roundRect">
            <a:avLst>
              <a:gd name="adj" fmla="val 5000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7648" y="17007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528816" y="17007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729984" y="17007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67335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82512" y="1975104"/>
            <a:ext cx="506577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df["Result"] = df["Marks"].apply(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x: "Pass" if x &gt;= 40 else "Fail")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3383280"/>
            <a:ext cx="5577840" cy="1600200"/>
          </a:xfrm>
          <a:prstGeom prst="roundRect">
            <a:avLst>
              <a:gd name="adj" fmla="val 5143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35295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28816" y="35295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9984" y="35295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50215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iterrows()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82512" y="3803904"/>
            <a:ext cx="5065776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index, row in df.iterrows():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print(row["Name"], row["Marks"])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16659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616659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· EXPORTING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Exporting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3949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any DataFrame back out to a file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index=False skips writing the row-number column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the same way for CSV and Excel outputs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7648" y="188366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6528816" y="188366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6729984" y="188366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8562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CSV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82512" y="2157984"/>
            <a:ext cx="506577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df.to_csv("output.csv", index=False)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338328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352958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28816" y="352958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9984" y="352958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50215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Excel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82512" y="3803904"/>
            <a:ext cx="506577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df.to_excel("output.xlsx", index=False)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69164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· CASE STUDY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Classroom Example  (1/2)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dataset, then explore and clean it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11247120" cy="4828032"/>
          </a:xfrm>
          <a:prstGeom prst="roundRect">
            <a:avLst>
              <a:gd name="adj" fmla="val 1705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719072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719072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719072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916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classroom_example.py — part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1993392"/>
            <a:ext cx="10735056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{"ID": [101, 102, 103, 104, 105],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"Name": ["Ravi","Sita","Anu","Kiran","Ramesh"],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"Branch": ["CSE","IT","CSE","IT","CSE"],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"Marks": [85, 92, 76, None, 88]}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pd.DataFrame(data)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the data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print(df.info())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print(df.describe())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and fill missing values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df["Marks"] = df["Marks"].fillna(df["Marks"].mean())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69164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· CASE STUDY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Classroom Example  (2/2)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derived columns, then filter, group, and sort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11247120" cy="4828032"/>
          </a:xfrm>
          <a:prstGeom prst="roundRect">
            <a:avLst>
              <a:gd name="adj" fmla="val 1705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719072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719072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719072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916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classroom_example.py — part 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1993392"/>
            <a:ext cx="10735056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Result column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df["Result"] = df["Marks"].apply(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x: "Pass" if x &gt;= 40 else "Fail")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Grade column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grade(mark):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mark &gt;= 90: return "A+"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mark &gt;= 80: return "A"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mark &gt;= 70: return "B"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return "C"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df["Grade"] = df["Marks"].apply(grade)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D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filter, group, and sort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top_students = df[df["Marks"] &gt;= 80]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print(df.groupby("Branch")["Marks"].mean())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print(df.sort_values("Marks", ascending=False))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41678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4167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· REVISION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Syntax Revision Sheet  (1/2)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54480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Pandas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0982" y="1554480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5394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121408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0982" y="2121408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pd.Series(data)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88336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688336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DataFrame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0982" y="2688336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pd.DataFrame(data)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5394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255264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0982" y="3255264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pd.read_csv("file.csv")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822192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822192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Excel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0982" y="3822192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pd.read_excel("file.xlsx")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5394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389120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rows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0982" y="4389120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956048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956048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rows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0982" y="4956048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df.tail()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5522976"/>
            <a:ext cx="5394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5522976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0982" y="5522976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1554480"/>
            <a:ext cx="0" cy="4535424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1554480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31" name="Text 29"/>
          <p:cNvSpPr/>
          <p:nvPr/>
        </p:nvSpPr>
        <p:spPr>
          <a:xfrm>
            <a:off x="6419088" y="1554480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3142" y="1554480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09360" y="2121408"/>
            <a:ext cx="5394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419088" y="2121408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3142" y="2121408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2688336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37" name="Text 35"/>
          <p:cNvSpPr/>
          <p:nvPr/>
        </p:nvSpPr>
        <p:spPr>
          <a:xfrm>
            <a:off x="6419088" y="2688336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83142" y="2688336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3255264"/>
            <a:ext cx="5394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419088" y="3255264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column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683142" y="3255264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df["Name"]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9360" y="3822192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43" name="Text 41"/>
          <p:cNvSpPr/>
          <p:nvPr/>
        </p:nvSpPr>
        <p:spPr>
          <a:xfrm>
            <a:off x="6419088" y="3822192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columns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683142" y="3822192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df[["Name","Marks"]]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09360" y="4389120"/>
            <a:ext cx="5394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419088" y="4389120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selection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83142" y="4389120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df.loc[...]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09360" y="4956048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49" name="Text 47"/>
          <p:cNvSpPr/>
          <p:nvPr/>
        </p:nvSpPr>
        <p:spPr>
          <a:xfrm>
            <a:off x="6419088" y="4956048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selection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683142" y="4956048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df.iloc[...]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309360" y="5522976"/>
            <a:ext cx="5394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419088" y="5522976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683142" y="5522976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df[df["Marks"]&gt;80]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309360" y="1554480"/>
            <a:ext cx="0" cy="4535424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41678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4167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· REVISION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Syntax Revision Sheet  (2/2)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54480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0982" y="1554480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df["New"] = value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5394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121408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column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0982" y="2121408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df.drop("column", axis=1)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88336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688336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0982" y="2688336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5394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255264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missing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0982" y="3255264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822192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822192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0982" y="3822192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df.fillna(value)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5394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389120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0982" y="4389120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956048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956048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column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0982" y="4956048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df.rename(columns={...})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5522976"/>
            <a:ext cx="5394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5522976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datatype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0982" y="5522976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df.astype(type)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6089904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6089904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30982" y="6089904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df.sort_values("column")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1554480"/>
            <a:ext cx="0" cy="5102352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1554480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34" name="Text 32"/>
          <p:cNvSpPr/>
          <p:nvPr/>
        </p:nvSpPr>
        <p:spPr>
          <a:xfrm>
            <a:off x="6419088" y="1554480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categories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3142" y="1554480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.value_counts()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2121408"/>
            <a:ext cx="5394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419088" y="2121408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data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83142" y="2121408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df.groupby("column")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2688336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40" name="Text 38"/>
          <p:cNvSpPr/>
          <p:nvPr/>
        </p:nvSpPr>
        <p:spPr>
          <a:xfrm>
            <a:off x="6419088" y="2688336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683142" y="2688336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.agg()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9360" y="3255264"/>
            <a:ext cx="5394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419088" y="3255264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tables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683142" y="3255264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pd.concat([...])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09360" y="3822192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46" name="Text 44"/>
          <p:cNvSpPr/>
          <p:nvPr/>
        </p:nvSpPr>
        <p:spPr>
          <a:xfrm>
            <a:off x="6419088" y="3822192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tables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83142" y="3822192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pd.merge(df1, df2, on="col")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09360" y="4389120"/>
            <a:ext cx="5394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419088" y="4389120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function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683142" y="4389120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df["col"].apply(fn)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309360" y="4956048"/>
            <a:ext cx="539496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52" name="Text 50"/>
          <p:cNvSpPr/>
          <p:nvPr/>
        </p:nvSpPr>
        <p:spPr>
          <a:xfrm>
            <a:off x="6419088" y="4956048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CSV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683142" y="4956048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df.to_csv("file.csv")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309360" y="5522976"/>
            <a:ext cx="53949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419088" y="5522976"/>
            <a:ext cx="22658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Excel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683142" y="5522976"/>
            <a:ext cx="288401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df.to_excel("file.xlsx")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309360" y="1554480"/>
            <a:ext cx="0" cy="5102352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6698" cy="292608"/>
          </a:xfrm>
          <a:prstGeom prst="roundRect">
            <a:avLst>
              <a:gd name="adj" fmla="val 1875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66698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· ROADMAP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Teaching Sequence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11247120" cy="786384"/>
          </a:xfrm>
          <a:prstGeom prst="roundRect">
            <a:avLst>
              <a:gd name="adj" fmla="val 9302"/>
            </a:avLst>
          </a:prstGeom>
          <a:solidFill>
            <a:srgbClr val="F5F7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733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6733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536192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834640" y="1536192"/>
            <a:ext cx="8686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→ Series → DataFrame → Creating DataFrames → head(), tail(), shape, info(), describe()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41448"/>
            <a:ext cx="11247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441448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834640" y="2441448"/>
            <a:ext cx="8686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selection → loc → iloc → Filtering → Adding and updating columns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46704"/>
            <a:ext cx="11247120" cy="786384"/>
          </a:xfrm>
          <a:prstGeom prst="roundRect">
            <a:avLst>
              <a:gd name="adj" fmla="val 9302"/>
            </a:avLst>
          </a:prstGeom>
          <a:solidFill>
            <a:srgbClr val="F5F7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48386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4838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346704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834640" y="3346704"/>
            <a:ext cx="8686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→ Duplicates → Data type conversion → Sorting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11247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43891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3891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251960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834640" y="4251960"/>
            <a:ext cx="8686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→ agg() → apply() → String operations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157216"/>
            <a:ext cx="11247120" cy="786384"/>
          </a:xfrm>
          <a:prstGeom prst="roundRect">
            <a:avLst>
              <a:gd name="adj" fmla="val 9302"/>
            </a:avLst>
          </a:prstGeom>
          <a:solidFill>
            <a:srgbClr val="F5F7FC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5294376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52943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5157216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2834640" y="5157216"/>
            <a:ext cx="8686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concat() → merge() → CSV / Excel files → Complete mini case study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ANALYSIS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 Practice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notebook, load a dataset with read_csv(), and work through every step on this list.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7498080" cy="1554480"/>
          </a:xfrm>
          <a:prstGeom prst="roundRect">
            <a:avLst>
              <a:gd name="adj" fmla="val 5294"/>
            </a:avLst>
          </a:prstGeom>
          <a:solidFill>
            <a:srgbClr val="1B2138"/>
          </a:solidFill>
          <a:ln/>
          <a:effectLst>
            <a:outerShdw blurRad="127000" dist="38100" dir="5400000" algn="bl" rotWithShape="0">
              <a:srgbClr val="0A0E1F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4169664"/>
            <a:ext cx="100584" cy="100584"/>
          </a:xfrm>
          <a:prstGeom prst="ellipse">
            <a:avLst/>
          </a:prstGeom>
          <a:solidFill>
            <a:srgbClr val="E4645B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4169664"/>
            <a:ext cx="100584" cy="100584"/>
          </a:xfrm>
          <a:prstGeom prst="ellipse">
            <a:avLst/>
          </a:prstGeom>
          <a:solidFill>
            <a:srgbClr val="E5C244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4169664"/>
            <a:ext cx="100584" cy="100584"/>
          </a:xfrm>
          <a:prstGeom prst="ellipse">
            <a:avLst/>
          </a:prstGeom>
          <a:solidFill>
            <a:srgbClr val="5CC26B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4443984"/>
            <a:ext cx="6986016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5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pd.read_csv("your_dataset.csv")</a:t>
            </a:r>
            <a:endParaRPr lang="en-US" sz="15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3090</Words>
  <Application>Microsoft Office PowerPoint</Application>
  <PresentationFormat>Widescreen</PresentationFormat>
  <Paragraphs>553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kanakamedala vineela</cp:lastModifiedBy>
  <cp:revision>2</cp:revision>
  <dcterms:created xsi:type="dcterms:W3CDTF">2026-08-15T18:46:10Z</dcterms:created>
  <dcterms:modified xsi:type="dcterms:W3CDTF">2026-08-15T19:01:49Z</dcterms:modified>
</cp:coreProperties>
</file>